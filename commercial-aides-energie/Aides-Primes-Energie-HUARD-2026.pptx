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A261"/>
                </a:solidFill>
                <a:latin typeface="Calibri"/>
              </a:rPr>
              <a:t>GROUPE HUARD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Aides &amp; Primes Energie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EF5"/>
                </a:solidFill>
                <a:latin typeface="Calibri"/>
              </a:rPr>
              <a:t>Levier commercial - Recensement des dispositifs mobilisables pour nos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EEF5"/>
                </a:solidFill>
                <a:latin typeface="Calibri"/>
              </a:rPr>
              <a:t>Electricite - CVC - Telecoms - Informatique -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A261"/>
                </a:solidFill>
                <a:latin typeface="Calibri"/>
              </a:rPr>
              <a:t>Direction commerciale - 16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Document interne - non contractuel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Pourquoi ce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Un outil pour transformer les aides en avantage commercial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Constat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657600" cy="40233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108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F4D"/>
                </a:solidFill>
                <a:latin typeface="Calibri"/>
              </a:rPr>
              <a:t>Nos clients connaissent mal le paysage des aides. Resultat : ils repoussent les chantiers ou les paient en cash, alors que 25 a 70% peut etre finance.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813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Marche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657600" cy="40233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F4D"/>
                </a:solidFill>
                <a:latin typeface="Calibri"/>
              </a:rPr>
              <a:t>Decret Tertiaire, Decret BACS, Loi APER, prime solaire renforcee 2026 : la reglementation cree un marche captif sur tous nos metiers.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657600" cy="548640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Notre opportunite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657600" cy="40233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108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F4D"/>
                </a:solidFill>
                <a:latin typeface="Calibri"/>
              </a:rPr>
              <a:t>En maitrisant 37 dispositifs, HUARD devient le partenaire qui simplifie la vie du client : on chiffre, on monte les aides, on realise, on entretient.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OBJECTIF : faire des aides un levier de signature (delais raccourcis, conversion devis amelioree, ticket moyen plus eleve).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Cartographie des dispositifs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37 aides cartographiees - 9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7480" cy="1097280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CEE Tertiaire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9 fiches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97480" cy="1097280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CEE Industrie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7452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3 fiches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269748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Coup de pouce CEE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2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3 dispositifs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280160"/>
            <a:ext cx="269748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41732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Photovoltaique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87452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5 dispositifs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269748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974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ADEME / France 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54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5 dispositifs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560320"/>
            <a:ext cx="2697480" cy="1097280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6974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Bpifrance / Financement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154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2 prets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560320"/>
            <a:ext cx="269748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6974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IRVE - bornes recharge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154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2 dispositifs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560320"/>
            <a:ext cx="2697480" cy="10972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6974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Obligations creatrices de marche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154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2 dispositifs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2697480" cy="1097280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776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Region IDF + collectivites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348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4 dispositifs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840480"/>
            <a:ext cx="269748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39776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Residentiel / Copropriete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4348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5 dispositifs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840480"/>
            <a:ext cx="2697480" cy="109728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9776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Programmes specialises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348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3 dispositifs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F4D"/>
                </a:solidFill>
                <a:latin typeface="Calibri"/>
              </a:rPr>
              <a:t>9 categories - 37 dispositifs - tous detailles dans le classeur Excel d'accompagnement (onglet 01 'Tableau complet').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  <a:latin typeface="Calibri"/>
              </a:rPr>
              <a:t>Code couleur : BLEU = CEE &amp; financement / ORANGE = bonifications &amp; IRVE / VERT = ADEME, EnR et copro / ROUGE = obligations reglementaires.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Top 10 leviers commerciaux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Les dispositifs a maitriser en priorite par les equipes commerciales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618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CEE BAT-EQ-127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2618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Luminaires LED tertiaire - finance 30-70% du relamping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2618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ELEC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190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7190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CEE BAT-TH-104 + Coup de pouce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7190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PAC en remplacement chaudieres - bonifie sortie fioul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7190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CVC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03120"/>
            <a:ext cx="1124712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762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1762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CEE BAT-TH-116 + decret BACS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1762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GTB pilotage CVC - obligation &gt; 290 kW (2025), &gt; 70 kW (2027)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1762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ELEC/CVC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334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6334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Coup de pouce Renovation tertiaire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6334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Bouquet &gt;= 30% gain - bonification jusqu'a x4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26334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TOUS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906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0906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Prime autoconso PV + Loi APER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0906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Ombrieres parkings &gt; 1500 m2 (500 m2 en 07/2026) - marche captif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0906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ELEC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4747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5478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5478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Programme ADVENIR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5478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Bornes IRVE copro / entreprises - jusqu'a 1660 EUR + 3000 EUR pre-equipement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5478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ELEC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050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0050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Decret Tertiaire (DEET)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0050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Obligation -40% en 2030 - porte d'entree commerciale n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40050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TOUS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3891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4622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4622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Fonds Chaleur ADEME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4622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Jusqu'a 65% des couts EnR - geothermie, biomasse, chaleur fatale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44622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CVC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46320"/>
            <a:ext cx="1124712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9194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49194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Diag Decarbon'Action Bpifrance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0" y="49194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Diagnostic PME 4000 EUR forfait - genere le pipeline travaux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49194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TOUS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3035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37667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53766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MaPrimeRenov Copropriete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537667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Marche copro IDF - chauffage collectif, parties communes, IRVE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5376672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81A6"/>
                </a:solidFill>
                <a:latin typeface="Calibri"/>
              </a:rPr>
              <a:t>CVC/ELEC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Focus Decret Tertiaire (DEET)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Notre porte d'entree commerciale 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669280" cy="5029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F4D"/>
                </a:solidFill>
                <a:latin typeface="Calibri"/>
              </a:rPr>
              <a:t>Qui est concerne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03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F4D"/>
                </a:solidFill>
                <a:latin typeface="Calibri"/>
              </a:rPr>
              <a:t>Tous batiments tertiaires &gt;= 1000 m2.
Tous usages : bureaux, commerces, sante, enseignement, hotellerie, restauration, logistique, services, sport, culture, justice...
Proprietaires ET locataires - obligation de declaration sur OPERAT.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F4D"/>
                </a:solidFill>
                <a:latin typeface="Calibri"/>
              </a:rPr>
              <a:t>Trajectoire reglementaire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5303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-40% en 2030 (base 2010-2019)
-50% en 2040
-60% en 2050
Sanctions : 7500 EUR + name &amp; shame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A261"/>
                </a:solidFill>
                <a:latin typeface="Calibri"/>
              </a:rPr>
              <a:t>Notre offre HUARD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1. Audit gratuit OPERAT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8EEF5"/>
                </a:solidFill>
                <a:latin typeface="Calibri"/>
              </a:rPr>
              <a:t>Verifier le statut declaratif du client et le delta vs objectif 2030.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2. Plan d'actions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8EEF5"/>
                </a:solidFill>
                <a:latin typeface="Calibri"/>
              </a:rPr>
              <a:t>CVC + eclairage + GTB + EnR - chiffrage par lot.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7472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3. Financement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4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8EEF5"/>
                </a:solidFill>
                <a:latin typeface="Calibri"/>
              </a:rPr>
              <a:t>CEE bonifies + Coup de pouce + Fonds Chaleur + Region IDF - reste a charge minimal.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4. Realisation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8EEF5"/>
                </a:solidFill>
                <a:latin typeface="Calibri"/>
              </a:rPr>
              <a:t>Travaux HUARD tous corps d'etat techniques.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206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5. Suivi via GTB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39496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8EEF5"/>
                </a:solidFill>
                <a:latin typeface="Calibri"/>
              </a:rPr>
              <a:t>Mesure &amp; verification - lien direct avec contrat de maintenance HUARD.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Focus prime solaire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La nouvelle dynamique PV tertiaire + Loi 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F4D"/>
                </a:solidFill>
                <a:latin typeface="Calibri"/>
              </a:rPr>
              <a:t>Trois leviers cumulables 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Prime a l'autoconsommation (arrete S26)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3657600" cy="3566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1089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Versee en 5 ans (1/5 par an). Indicatif T2 2026 :
- &lt;= 3 kWc : ~80 EUR/kWc
- 3-9 kWc : ~80 EUR/kWc
- 9-36 kWc : ~190 EUR/kWc
- 36-100 kWc : ~100 EUR/kWc
Pour 100 a 500 kWc : modalites specifiques.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657600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Tarif d'achat EDF OA (surplus)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377440"/>
            <a:ext cx="3657600" cy="3566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31089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Contrat 20 ans, tarif EUR/kWh fixe.
Securise le ROI du projet.
Cumul prime + tarif possible jusqu'a 500 kWc.
Au-dela : passer par appel d'offres CRE.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Loi APER - obligation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377440"/>
            <a:ext cx="3657600" cy="35661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1089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Parking &gt; 1500 m2 : obligation
(elargi a 500 m2 en juillet 2026)
Batiments commerciaux/industriels &gt; 500 m2 : integration PV obligatoire
Sanction jusqu'a 40 000 EUR/an.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CIBLE PROSPECTION : hypermarches, zones commerciales, centres logistiques, sites industriels, sieges sociaux avec grand parking.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Focus IRVE - bornes de recharge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Programme ADVENIR + obligation LOM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F4D"/>
                </a:solidFill>
                <a:latin typeface="Calibri"/>
              </a:rPr>
              <a:t>Plafonds ADVENIR 2026 (indicatifs)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1247120" cy="5029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Particulier en immeuble collectif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47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Jusqu'a 960 EUR HT / point de charge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Copropriete - infrastructure collective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5000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Jusqu'a 1660 EUR/point + 3000 EUR pre-equipement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Parking entreprise (salaries / flotte)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52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Jusqu'a 1700 EUR HT / 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558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Parking ouvert au public (standard)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5584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Jusqu'a 2700 EUR / 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11247120" cy="5029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58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Bornes tres haute puissance (&gt;140 kW)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58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Jusqu'a 15 000 EUR / 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616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Voirie - acteurs publics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3616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Sur dossier - jusqu'a 50% 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PREREQUIS HUARD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1. Labellisation ADVENIR (formation Avere-France) - obligatoire pour declencher l'aide.
2. Qualification IRVE Qualifelec niveau 2 ou 3 selon puissance.
3. Engagement client avant signature du devis (clause ADVENIR a inclure dans tous nos devis IRVE).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CEE - fiches cles par metier HUARD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Recensement des fiches a fort effet de levier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749039" cy="548640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383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ELECTRICITE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749039" cy="4206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73152" cy="73152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BAT-EQ-127 - Luminaires LED tertiaire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73152" cy="73152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BAT-EQ-133 - Gestion eclairage (DALI/KNX)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49040"/>
            <a:ext cx="73152" cy="73152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BAT-EQ-117 - Variation puissance eclairage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526280"/>
            <a:ext cx="73152" cy="73152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BAT-TH-116 - GTB classe A/B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303520"/>
            <a:ext cx="73152" cy="73152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IND-UT-103 - Variateur vitesse moteurs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399" y="1280160"/>
            <a:ext cx="3749039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371600"/>
            <a:ext cx="3383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CVC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399" y="1828800"/>
            <a:ext cx="3749039" cy="4206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1999" y="2194560"/>
            <a:ext cx="73152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205740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BAT-TH-104 - PAC air/eau, eau/eau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1999" y="2971800"/>
            <a:ext cx="73152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283464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BAT-TH-127 - Raccordement reseau chaleur EnR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1999" y="3749040"/>
            <a:ext cx="73152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361188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BAT-TH-125/155 - VMC double flux 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1999" y="4526280"/>
            <a:ext cx="73152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438912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BAT-TH-146 - Calorifugeage points singuliers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1999" y="5303520"/>
            <a:ext cx="73152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516636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BAT-TH-141 - Regulation programmation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598" y="1280160"/>
            <a:ext cx="3749039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8" y="1371600"/>
            <a:ext cx="3383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MAINTENANCE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8" y="1828800"/>
            <a:ext cx="3749039" cy="4206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58198" y="2194560"/>
            <a:ext cx="731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78" y="205740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BAT-TH-146 + BAT-TH-145 - Calorifugeage (P2/P3)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198" y="2971800"/>
            <a:ext cx="731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78" y="283464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BAT-TH-116 - GTB exploitation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198" y="3749040"/>
            <a:ext cx="731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78" y="361188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BAT-TH-141 - Programmation horaire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198" y="4526280"/>
            <a:ext cx="731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78" y="438912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IND-UT-103 - VEV moteurs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198" y="5303520"/>
            <a:ext cx="731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78" y="5166360"/>
            <a:ext cx="310895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Coup de pouce 'Pilotage connecte chauffage'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78"/>
                </a:solidFill>
                <a:latin typeface="Calibri"/>
              </a:rPr>
              <a:t>Telecoms/Informatique : actions specifiques datacenter (refroidissement, free cooling) + Diag Decarbon'Action Bpifrance.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Eligibilite par profil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Qui beneficie de quoi - grille express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377440" cy="384048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Profil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280160"/>
            <a:ext cx="1225296" cy="384048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32588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9936" y="1280160"/>
            <a:ext cx="1225296" cy="384048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132588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Coup de pouce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85232" y="1280160"/>
            <a:ext cx="1225296" cy="384048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132588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Fonds Chaleur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8" y="1280160"/>
            <a:ext cx="1225296" cy="384048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32588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Bpifrance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35824" y="1280160"/>
            <a:ext cx="1225296" cy="384048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1544" y="132588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Region IDF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280160"/>
            <a:ext cx="1225296" cy="384048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32588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ADVENIR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86416" y="1280160"/>
            <a:ext cx="1225296" cy="384048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32136" y="132588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MPR / Eco-PTZ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664208"/>
            <a:ext cx="237744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170078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PME tertiaire &lt; 1000 m2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166420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170078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59936" y="166420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170078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85232" y="166420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0952" y="170078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(EnR)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0528" y="166420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170078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35824" y="166420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170078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166420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170078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86416" y="1664208"/>
            <a:ext cx="1225296" cy="384048"/>
          </a:xfrm>
          <a:prstGeom prst="rect">
            <a:avLst/>
          </a:prstGeom>
          <a:solidFill>
            <a:srgbClr val="F3C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32136" y="170078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048256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084832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Tertiaire 1000-5000 m2 (DEET)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204825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208483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59936" y="204825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05656" y="208483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85232" y="204825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30952" y="208483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(EnR)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0528" y="204825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6248" y="208483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35824" y="204825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81544" y="208483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204825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208483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86416" y="2048256"/>
            <a:ext cx="1225296" cy="384048"/>
          </a:xfrm>
          <a:prstGeom prst="rect">
            <a:avLst/>
          </a:prstGeom>
          <a:solidFill>
            <a:srgbClr val="F3C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32136" y="208483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-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2432304"/>
            <a:ext cx="237744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2468880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Grand tertiaire &gt; 5000 m2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243230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60" y="246888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59936" y="243230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05656" y="246888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5232" y="243230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30952" y="246888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(EnR)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10528" y="2432304"/>
            <a:ext cx="1225296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6248" y="246888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Pret Vert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35824" y="243230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81544" y="246888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243230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06840" y="246888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86416" y="2432304"/>
            <a:ext cx="1225296" cy="384048"/>
          </a:xfrm>
          <a:prstGeom prst="rect">
            <a:avLst/>
          </a:prstGeom>
          <a:solidFill>
            <a:srgbClr val="F3C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32136" y="246888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-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2816352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2852928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Industrie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281635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80360" y="285292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(IND)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59936" y="2816352"/>
            <a:ext cx="1225296" cy="384048"/>
          </a:xfrm>
          <a:prstGeom prst="rect">
            <a:avLst/>
          </a:prstGeom>
          <a:solidFill>
            <a:srgbClr val="FFE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05656" y="285292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(selon)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85232" y="281635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30952" y="285292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10528" y="281635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56248" y="285292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35824" y="281635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81544" y="285292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61120" y="281635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06840" y="285292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86416" y="2816352"/>
            <a:ext cx="1225296" cy="384048"/>
          </a:xfrm>
          <a:prstGeom prst="rect">
            <a:avLst/>
          </a:prstGeom>
          <a:solidFill>
            <a:srgbClr val="F3C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32136" y="285292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3200400"/>
            <a:ext cx="237744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3236976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Collectivite (commune/MGP)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34640" y="3200400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80360" y="3236976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(BAT)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059936" y="3200400"/>
            <a:ext cx="1225296" cy="384048"/>
          </a:xfrm>
          <a:prstGeom prst="rect">
            <a:avLst/>
          </a:prstGeom>
          <a:solidFill>
            <a:srgbClr val="FFE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05656" y="3236976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(selon)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85232" y="3200400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30952" y="3236976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510528" y="3200400"/>
            <a:ext cx="1225296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56248" y="3236976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Banque Territoires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35824" y="3200400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81544" y="3236976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61120" y="3200400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06840" y="3236976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186416" y="3200400"/>
            <a:ext cx="1225296" cy="384048"/>
          </a:xfrm>
          <a:prstGeom prst="rect">
            <a:avLst/>
          </a:prstGeom>
          <a:solidFill>
            <a:srgbClr val="F3C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32136" y="3236976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-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3584448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3621024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Copropriete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34640" y="358444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80360" y="362102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059936" y="358444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05656" y="362102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285232" y="358444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30952" y="362102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(EnR)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510528" y="3584448"/>
            <a:ext cx="12252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56248" y="362102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Eco-PTZ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35824" y="358444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81544" y="362102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(POSIT'IF)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1120" y="358444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06840" y="362102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86416" y="3584448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32136" y="3621024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(MPR Copro)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3968496"/>
            <a:ext cx="237744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2920" y="4005072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Particulier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834640" y="396849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880360" y="400507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(BAR)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059936" y="396849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105656" y="400507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285232" y="3968496"/>
            <a:ext cx="1225296" cy="384048"/>
          </a:xfrm>
          <a:prstGeom prst="rect">
            <a:avLst/>
          </a:prstGeom>
          <a:solidFill>
            <a:srgbClr val="FFE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330952" y="400507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(limite)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510528" y="3968496"/>
            <a:ext cx="1225296" cy="384048"/>
          </a:xfrm>
          <a:prstGeom prst="rect">
            <a:avLst/>
          </a:prstGeom>
          <a:solidFill>
            <a:srgbClr val="F3C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556248" y="400507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-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735824" y="3968496"/>
            <a:ext cx="1225296" cy="384048"/>
          </a:xfrm>
          <a:prstGeom prst="rect">
            <a:avLst/>
          </a:prstGeom>
          <a:solidFill>
            <a:srgbClr val="FFE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81544" y="400507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(selon)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961120" y="396849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06840" y="400507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(960 EUR)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186416" y="3968496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32136" y="4005072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(MPR + Eco-PTZ)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7200" y="4352544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02920" y="4389120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Hotel / sante / education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834640" y="435254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880360" y="438912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059936" y="435254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105656" y="438912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285232" y="435254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330952" y="438912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 (ECS solaire, biomasse)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510528" y="435254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556248" y="438912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735824" y="435254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781544" y="438912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961120" y="4352544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006840" y="438912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186416" y="4352544"/>
            <a:ext cx="1225296" cy="384048"/>
          </a:xfrm>
          <a:prstGeom prst="rect">
            <a:avLst/>
          </a:prstGeom>
          <a:solidFill>
            <a:srgbClr val="F3C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232136" y="4389120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-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7200" y="4736592"/>
            <a:ext cx="2377440" cy="384048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02920" y="4773168"/>
            <a:ext cx="2286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2F4D"/>
                </a:solidFill>
                <a:latin typeface="Calibri"/>
              </a:rPr>
              <a:t>Logistique / entrepots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834640" y="473659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880360" y="477316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059936" y="473659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105656" y="477316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285232" y="4736592"/>
            <a:ext cx="1225296" cy="384048"/>
          </a:xfrm>
          <a:prstGeom prst="rect">
            <a:avLst/>
          </a:prstGeom>
          <a:solidFill>
            <a:srgbClr val="FFE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30952" y="477316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(selon)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510528" y="473659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556248" y="477316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735824" y="473659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781544" y="477316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961120" y="4736592"/>
            <a:ext cx="1225296" cy="384048"/>
          </a:xfrm>
          <a:prstGeom prst="rect">
            <a:avLst/>
          </a:prstGeom>
          <a:solidFill>
            <a:srgbClr val="D9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006840" y="477316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X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186416" y="4736592"/>
            <a:ext cx="1225296" cy="384048"/>
          </a:xfrm>
          <a:prstGeom prst="rect">
            <a:avLst/>
          </a:prstGeom>
          <a:solidFill>
            <a:srgbClr val="F3C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232136" y="4773168"/>
            <a:ext cx="11338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F2F4D"/>
                </a:solidFill>
                <a:latin typeface="Calibri"/>
              </a:rPr>
              <a:t>-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Legende : X = eligible / (selon) = sous conditions ou selon AAP en cours / - = non eligible directement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9. Cumul des aides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Regles d'or pour eviter les pieges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37160" cy="640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Cumul CEE + Fonds Chaleur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POSSIBLE mais : ne pas subventionner deux fois le meme equipement. ADEME verifie. Bien isoler les lots.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137160" cy="640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Cumul CEE + MaPrimeRenov / MPR Copro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POSSIBLE. Logique : CEE deduit du devis, MPR verse au client. Decret MPR autorise.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137160" cy="6400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Cumul CEE + ADVENIR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NON CUMULABLE. ADVENIR est finance via les CEE - on choisit l'un OU l'autre par point de charge.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137160" cy="640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Cumul CEE + Bpifrance Pret Vert / PEE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POSSIBLE. Le pret finance le reste a charge apres aides directes.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137160" cy="640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Cumul CEE + Region IDF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148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POSSIBLE sous regime de minimis (200 000 EUR sur 3 ans par entreprise).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37160" cy="640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Cumul Coup de pouce + CEE classique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006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Le Coup de pouce REMPLACE la fiche CEE classique sur la meme operation - bonification appliquee.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94960"/>
            <a:ext cx="137160" cy="640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Cumul TVA 5,5% / 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4864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CUMULABLE avec toutes les aides - attestation client systematique.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10. Pitch 1 - Decret Tertiaire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Le pitch a deployer chez tous nos clients &gt; 1000 m2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« Vous etes oblige par le decret tertiaire d'atteindre -40% de conso en 2030. Si vous ne deposez pas la declaration OPERAT, c'est 7500 EUR d'amende plus le name &amp; shame. Nous proposons un parcours simple : audit -&gt; plan d'actions -&gt; travaux finances jusqu'a 70% par CEE + ADEME.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F4D"/>
                </a:solidFill>
                <a:latin typeface="Calibri"/>
              </a:rPr>
              <a:t>Cible commerciale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5303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F4D"/>
                </a:solidFill>
                <a:latin typeface="Calibri"/>
              </a:rPr>
              <a:t>- Bureaux et commerces &gt; 1000 m2
- Hopitaux, ehpad, cliniques
- Hotels et residences services
- Etablissements scolaires prives et publics
- Centres commerciaux
- Logistique et entrepots tertiaires
- Sieges sociaux groupes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F4D"/>
                </a:solidFill>
                <a:latin typeface="Calibri"/>
              </a:rPr>
              <a:t>Outils a sortir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5303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F4D"/>
                </a:solidFill>
                <a:latin typeface="Calibri"/>
              </a:rPr>
              <a:t>- One-pager DEET (a creer en interne)
- Acces OPERAT (donnees publiques)
- Modele de bilan d'audit en 1 page
- Catalogue chiffrages CEE bonifies
- Liste des partenaires BE qualifies
- Contact mandataire CEE + ADEME 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11. Pitch 2 - Copropriete IDF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Le marche structurant pour HUARD en Ile-de-France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 Votre copropriete chauffe au fioul/gaz collectif ? Le coup de pouce CEE bonifie x4 le remplacement par PAC ou raccordement reseau de chaleur. Plus MaPrimeRenov Copropriete jusqu'a 25%, plus Energies POSIT'IF qui peut financer la totalite via tiers-financement. Resultat : projet vote en AG sans appel de fonds disproportionne.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F4D"/>
                </a:solidFill>
                <a:latin typeface="Calibri"/>
              </a:rPr>
              <a:t>Aides cumulables sur copro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66928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735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MaPrimeRenov Copropriete (Anah)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735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F4D"/>
                </a:solidFill>
                <a:latin typeface="Calibri"/>
              </a:rPr>
              <a:t>Jusqu'a 25% du HT + bonus sortie passoire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66928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CEE + Coup de pouce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307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F4D"/>
                </a:solidFill>
                <a:latin typeface="Calibri"/>
              </a:rPr>
              <a:t>Bonification x2-4 sur sortie fioul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66928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879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Eco-PTZ collectif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1879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F4D"/>
                </a:solidFill>
                <a:latin typeface="Calibri"/>
              </a:rPr>
              <a:t>Jusqu'a 50 000 EUR / logement (0%)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66928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451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Energies POSIT'IF (Region IDF)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6451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F4D"/>
                </a:solidFill>
                <a:latin typeface="Calibri"/>
              </a:rPr>
              <a:t>Tiers-financement integral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566928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023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Region IDF + Departements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1023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F4D"/>
                </a:solidFill>
                <a:latin typeface="Calibri"/>
              </a:rPr>
              <a:t>Subventions complementaires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5669280" cy="41148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595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ADVENIR (IRVE collective)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5595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F4D"/>
                </a:solidFill>
                <a:latin typeface="Calibri"/>
              </a:rPr>
              <a:t>Jusqu'a 1660 EUR/point + 3000 EUR pre-eq.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517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F4D"/>
                </a:solidFill>
                <a:latin typeface="Calibri"/>
              </a:rPr>
              <a:t>Strategie HUARD copro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200400"/>
            <a:ext cx="5303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1. Cartographier les syndics partenaires IDF
2. Proposer des reunions d'information dediees AG
3. Outils : 'one-pager financement copro' par typologie
4. Partenariat Energies POSIT'IF et MAR (Mon Accompagnateur Renov)
5. Offre tout-en-un : chauffage + ECS + IRVE + parties communes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 Pitch 3 - Loi APER &amp; ombrieres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Marche captif - 24 mois pour se positionner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« Tout parking &gt; 1500 m2 doit etre couvert d'ombrieres PV. En juillet 2026, le seuil descend a 500 m2. Sanction : jusqu'a 40 000 EUR/an non couverte. Sur 1000 m2 de parking, c'est ~100 kWc PV, soit 13-15k EUR/an de revente surplus + prime autoconso. Nous montons le projet cle en main.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F4D"/>
                </a:solidFill>
                <a:latin typeface="Calibri"/>
              </a:rPr>
              <a:t>Cibles a prospecter en priorite sur l'IDF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577840" cy="777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Hypermarches &amp; GMS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8444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Auchan, Carrefour, Leclerc, Casino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200400"/>
            <a:ext cx="5577840" cy="777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Centres commerciaux &amp; retail parks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58444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Westfield, Klepierre, Hammerson, Mercialys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5577840" cy="777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Logistique &amp; messagerie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531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Prologis, GLP, Goodman, Argan, Geodis, DHL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69080"/>
            <a:ext cx="5577840" cy="777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Concessions automobiles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531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Stellantis, Renault, BMW, Mercedes (parkings)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5577840" cy="777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Zones industrielles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ZI Trappes, Massy, Senart, Roissy, Cergy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937760"/>
            <a:ext cx="5577840" cy="77724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0292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F4D"/>
                </a:solidFill>
                <a:latin typeface="Calibri"/>
              </a:rPr>
              <a:t>Sieges et campus tertiaires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2180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Saclay, La Defense, Velizy, Rueil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13. Plan d'actions commercial 90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Roadmap d'activation interne et externe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46304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J0-J15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Outillage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234440"/>
            <a:ext cx="9784080" cy="11887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371600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- Diffusion du classeur Excel + PPT aux equipes
- Formation 2h : top 10 leviers + cas concrets
- Creation one-pagers par metier (DEET, BACS, APER, IRVE)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32888"/>
            <a:ext cx="1463040" cy="1188720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1576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J15-J45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Activation interne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532888"/>
            <a:ext cx="9784080" cy="11887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670048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- Selection mandataire CEE partenaire (negociation rachat kWh cumac)
- Confirmation labellisation ADVENIR + Qualifelec IRVE
- Mise a jour devis type : mentions CEE/ADVENIR/TVA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31336"/>
            <a:ext cx="1463040" cy="1188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14216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J45-J75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25696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Detection clients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831336"/>
            <a:ext cx="9784080" cy="11887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3968496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- Scan portefeuille : clients &gt; 1000 m2 tertiaire (DEET) et &gt; 290 kW CVC (BACS)
- Liste prospect ombrieres : parkings &gt; 500 m2
- Liste copros IDF avec chauffage collectif fioul/gaz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9784"/>
            <a:ext cx="1463040" cy="11887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12664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J75-J90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24144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Mise en pression commerciale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5129784"/>
            <a:ext cx="9784080" cy="11887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0" y="5266944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F4D"/>
                </a:solidFill>
                <a:latin typeface="Calibri"/>
              </a:rPr>
              <a:t>- Campagne de RDV 'Audit aides energie' (gratuit, 30 min)
- KPIs : nombre d'audits realises, devis emis avec aides, taux signature
- Reporting mensuel COMEX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5D8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14. Sources officielles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8EEF5"/>
                </a:solidFill>
                <a:latin typeface="Calibri"/>
              </a:rPr>
              <a:t>A garder en favoris - documentation et veille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57784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CEE - fiches standardisees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44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ecologie.gouv.fr/operations-standardisees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441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Coups de pouce CEE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344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ecologie.gouv.fr/coup-pouce-economies-denergie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557784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013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OPERAT - Decret Tertiaire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013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operat.ademe.fr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013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Decret BACS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8013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ecologie.gouv.fr/decret-bacs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94560"/>
            <a:ext cx="557784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2585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ADEME - Fonds Chaleur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2585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fondschaleur.ademe.fr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945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585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ADEME - Agir transition (Tremplin, Diag)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585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agirpourlatransition.ademe.fr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557784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715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Bpifrance - offres TEE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7157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bpifrance.fr/catalogue-offres/transition-ecologique-et-energetique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715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Programme ADVENIR (IRVE)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157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advenir.mobi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557784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1729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Programme ACTEE (collectivites)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1729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programme-actee.fr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1089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1729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MaPrimeRenov / France Renov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1729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france-renov.gouv.fr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566160"/>
            <a:ext cx="557784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6301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EDF Obligation d'achat solaire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630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edf-oa.fr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5661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6301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Photovoltaique.info (Hespul)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6301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photovoltaique.info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23360"/>
            <a:ext cx="557784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0873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Region IDF - aides TEE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0873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iledefrance.fr/aides-services/transition-energetique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0233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0873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Energies POSIT'IF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0873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energiespositif.fr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480560"/>
            <a:ext cx="5577840" cy="36576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5445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ADEME Ile-de-France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5445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ile-de-france.ademe.fr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4805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5445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F4D"/>
                </a:solidFill>
                <a:latin typeface="Calibri"/>
              </a:rPr>
              <a:t>Annuaires RGE - Qualibat, Qualifelec, QualiPV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5445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D81A6"/>
                </a:solidFill>
                <a:latin typeface="Calibri"/>
              </a:rPr>
              <a:t>qualibat.com / qualifelec.fr / qualit-enr.org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Groupe HUARD - Aides &amp; Primes Energie 2026 - Document interne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8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Nos clients ne paient pas le prix 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F4A261"/>
                </a:solidFill>
                <a:latin typeface="Calibri"/>
              </a:rPr>
              <a:t>Ils paient le delta apres aides - et HUARD le sait avant eux.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Suite de ce document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alibri"/>
              </a:rPr>
              <a:t>1. Classeur Excel detaille (37 dispositifs + 8 onglets)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alibri"/>
              </a:rPr>
              <a:t>2. Programme de formation interne 2h par equipe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alibri"/>
              </a:rPr>
              <a:t>3. KPIs commerciaux a integrer au reporting mensuel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Direction commerciale - Groupe HUARD - 16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