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4A261"/>
                </a:solidFill>
                <a:latin typeface="Calibri"/>
              </a:rPr>
              <a:t>GROUPE HUARD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Aides &amp; Primes Energie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EF5"/>
                </a:solidFill>
                <a:latin typeface="Calibri"/>
              </a:rPr>
              <a:t>Levier commercial - Recensement des dispositifs mobilisables pour nos clients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8EEF5"/>
                </a:solidFill>
                <a:latin typeface="Calibri"/>
              </a:rPr>
              <a:t>Electricite - CVC - Telecoms - Informatique - Maintenance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4A261"/>
                </a:solidFill>
                <a:latin typeface="Calibri"/>
              </a:rPr>
              <a:t>Direction commerciale - 16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Calibri"/>
              </a:rPr>
              <a:t>Document interne - non contractuel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1. Pourquoi ce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Un outil pour transformer les aides en avantage commercial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657600" cy="54864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Constat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3657600" cy="40233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3108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F2F4D"/>
                </a:solidFill>
                <a:latin typeface="Calibri"/>
              </a:rPr>
              <a:t>Nos clients connaissent mal le paysage des aides. Resultat : ils repoussent les chantiers ou les paient en cash, alors que 25 a 70% peut etre finance.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371600"/>
            <a:ext cx="3657600" cy="54864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48132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Marche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920240"/>
            <a:ext cx="3657600" cy="40233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94560"/>
            <a:ext cx="3108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F2F4D"/>
                </a:solidFill>
                <a:latin typeface="Calibri"/>
              </a:rPr>
              <a:t>Decret Tertiaire, Decret BACS, Loi APER, prime solaire renforcee 2026 : la reglementation cree un marche captif sur tous nos metiers.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371600"/>
            <a:ext cx="3657600" cy="548640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48132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Notre opportunite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20240"/>
            <a:ext cx="3657600" cy="40233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194560"/>
            <a:ext cx="3108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F2F4D"/>
                </a:solidFill>
                <a:latin typeface="Calibri"/>
              </a:rPr>
              <a:t>En maitrisant 37 dispositifs, HUARD devient le partenaire qui simplifie la vie du client : on chiffre, on monte les aides, on realise, on entretient.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OBJECTIF : faire des aides un levier de signature (delais raccourcis, conversion devis amelioree, ticket moyen plus eleve).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2/22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2. Cartographie des dispositifs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37 aides cartographiees - 9 categories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697480" cy="1097280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CEE Tertiaire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9 fiches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280160"/>
            <a:ext cx="2697480" cy="1097280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41732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CEE Industrie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87452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3 fiches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2697480" cy="10972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41732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Coup de pouce CEE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87452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3 dispositifs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1280160"/>
            <a:ext cx="2697480" cy="10972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41732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Photovoltaique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187452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5 dispositifs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560320"/>
            <a:ext cx="2697480" cy="10972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69748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ADEME / France 2030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15468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5 dispositifs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2560320"/>
            <a:ext cx="2697480" cy="1097280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269748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Bpifrance / Financement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15468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2 prets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2560320"/>
            <a:ext cx="2697480" cy="10972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69748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IRVE - bornes recharge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15468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2 dispositifs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2560320"/>
            <a:ext cx="2697480" cy="109728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69748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Obligations creatrices de marche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15468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2 dispositifs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840480"/>
            <a:ext cx="2697480" cy="1097280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97764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Region IDF + collectivites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43484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4 dispositifs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3840480"/>
            <a:ext cx="2697480" cy="10972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397764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Residentiel / Copropriete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443484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5 dispositifs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3840480"/>
            <a:ext cx="2697480" cy="1097280"/>
          </a:xfrm>
          <a:prstGeom prst="rect">
            <a:avLst/>
          </a:prstGeom>
          <a:solidFill>
            <a:srgbClr val="5A6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397764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Programmes specialises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43484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3 dispositifs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F4D"/>
                </a:solidFill>
                <a:latin typeface="Calibri"/>
              </a:rPr>
              <a:t>9 categories - 37 dispositifs - tous detailles dans le classeur Excel d'accompagnement (onglet 01 'Tableau complet').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852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8"/>
                </a:solidFill>
                <a:latin typeface="Calibri"/>
              </a:rPr>
              <a:t>Code couleur : BLEU = CEE &amp; financement / ORANGE = bonifications &amp; IRVE / VERT = ADEME, EnR et copro / ROUGE = obligations reglementaires.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3/22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3. Top 10 leviers commerciaux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Les dispositifs a maitriser en priorite par les equipes commerciales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11247120" cy="4114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61872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2618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CEE BAT-EQ-127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26187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Luminaires LED tertiaire - finance 30-70% du relamping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26187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D81A6"/>
                </a:solidFill>
                <a:latin typeface="Calibri"/>
              </a:rPr>
              <a:t>ELEC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45920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719072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190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CEE BAT-TH-104 + Coup de pouce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71907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PAC en remplacement chaudieres - bonifie sortie fioul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71907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D81A6"/>
                </a:solidFill>
                <a:latin typeface="Calibri"/>
              </a:rPr>
              <a:t>CVC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03120"/>
            <a:ext cx="11247120" cy="4114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176272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1762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CEE BAT-TH-116 + decret BACS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217627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GTB pilotage CVC - obligation &gt; 290 kW (2025), &gt; 70 kW (2027)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217627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D81A6"/>
                </a:solidFill>
                <a:latin typeface="Calibri"/>
              </a:rPr>
              <a:t>ELEC/CVC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560320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633472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6334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Coup de pouce Renovation tertiaire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63347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Bouquet &gt;= 30% gain - bonification jusqu'a x4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263347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D81A6"/>
                </a:solidFill>
                <a:latin typeface="Calibri"/>
              </a:rPr>
              <a:t>TOUS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17520"/>
            <a:ext cx="11247120" cy="4114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090672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Calibr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0906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Prime autoconso PV + Loi APER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09067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Ombrieres parkings &gt; 1500 m2 (500 m2 en 07/2026) - marche captif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309067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D81A6"/>
                </a:solidFill>
                <a:latin typeface="Calibri"/>
              </a:rPr>
              <a:t>ELEC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474720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47872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Calibr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35478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Programme ADVENIR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354787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Bornes IRVE copro / entreprises - jusqu'a 1660 EUR + 3000 EUR pre-equipement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354787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D81A6"/>
                </a:solidFill>
                <a:latin typeface="Calibri"/>
              </a:rPr>
              <a:t>ELEC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31920"/>
            <a:ext cx="11247120" cy="4114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005072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Calibri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40050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Decret Tertiaire (DEET)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400507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Obligation -40% en 2030 - porte d'entree commerciale n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400507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D81A6"/>
                </a:solidFill>
                <a:latin typeface="Calibri"/>
              </a:rPr>
              <a:t>TOUS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389120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462272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Calibri"/>
              </a:rPr>
              <a:t>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4622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Fonds Chaleur ADEME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446227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Jusqu'a 65% des couts EnR - geothermie, biomasse, chaleur fatale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32720" y="446227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D81A6"/>
                </a:solidFill>
                <a:latin typeface="Calibri"/>
              </a:rPr>
              <a:t>CVC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846320"/>
            <a:ext cx="11247120" cy="4114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919472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Calibri"/>
              </a:rPr>
              <a:t>09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" y="49194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Diag Decarbon'Action Bpifrance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0" y="491947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Diagnostic PME 4000 EUR forfait - genere le pipeline travaux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2720" y="491947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D81A6"/>
                </a:solidFill>
                <a:latin typeface="Calibri"/>
              </a:rPr>
              <a:t>TOUS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5303520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376672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Calibri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" y="53766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MaPrimeRenov Copropriete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80" y="537667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Marche copro IDF - chauffage collectif, parties communes, IRVE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2720" y="537667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D81A6"/>
                </a:solidFill>
                <a:latin typeface="Calibri"/>
              </a:rPr>
              <a:t>CVC/ELEC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4/22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4. Focus Decret Tertiaire (DEET)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Notre porte d'entree commerciale n 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669280" cy="50292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2F4D"/>
                </a:solidFill>
                <a:latin typeface="Calibri"/>
              </a:rPr>
              <a:t>Qui est concerne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3035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F4D"/>
                </a:solidFill>
                <a:latin typeface="Calibri"/>
              </a:rPr>
              <a:t>Tous batiments tertiaires &gt;= 1000 m2.
Tous usages : bureaux, commerces, sante, enseignement, hotellerie, restauration, logistique, services, sport, culture, justice...
Proprietaires ET locataires - obligation de declaration sur OPERAT.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2F4D"/>
                </a:solidFill>
                <a:latin typeface="Calibri"/>
              </a:rPr>
              <a:t>Trajectoire reglementaire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80"/>
            <a:ext cx="53035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-40% en 2030 (base 2010-2019)
-50% en 2040
-60% en 2050
Sanctions : 7500 EUR + name &amp; shame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188720"/>
            <a:ext cx="5303520" cy="502920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A261"/>
                </a:solidFill>
                <a:latin typeface="Calibri"/>
              </a:rPr>
              <a:t>Notre offre HUARD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82880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1. Audit gratuit OPERAT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103120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Verifier le statut declaratif du client et le delta vs objectif 2030.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65176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2. Plan d'actions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926080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CVC + eclairage + GTB + EnR - chiffrage par lot.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47472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3. Financement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49040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CEE bonifies + Coup de pouce + Fonds Chaleur + Region IDF - reste a charge minimal.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9768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4. Realisation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572000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Travaux HUARD tous corps d'etat techniques.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12064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5. Suivi via GTB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394960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Mesure &amp; verification - lien direct avec contrat de maintenance HUARD.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5/22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5. Focus prime solaire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La nouvelle dynamique PV tertiaire + Loi 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2F4D"/>
                </a:solidFill>
                <a:latin typeface="Calibri"/>
              </a:rPr>
              <a:t>Trois leviers cumulables :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3657600" cy="54864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Prime a l'autoconsommation (arrete S26)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3657600" cy="35661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606040"/>
            <a:ext cx="310896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Versee en 5 ans (1/5 par an). Indicatif T2 2026 :
- &lt;= 3 kWc : ~80 EUR/kWc
- 3-9 kWc : ~80 EUR/kWc
- 9-36 kWc : ~190 EUR/kWc
- 36-100 kWc : ~100 EUR/kWc
Pour 100 a 500 kWc : modalites specifiques.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828800"/>
            <a:ext cx="3657600" cy="54864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92024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Tarif d'achat EDF OA (surplus)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377440"/>
            <a:ext cx="3657600" cy="35661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06040"/>
            <a:ext cx="310896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Contrat 20 ans, tarif EUR/kWh fixe.
Securise le ROI du projet.
Cumul prime + tarif possible jusqu'a 500 kWc.
Au-dela : passer par appel d'offres CRE.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828800"/>
            <a:ext cx="3657600" cy="54864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92024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Loi APER - obligation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2377440"/>
            <a:ext cx="3657600" cy="35661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606040"/>
            <a:ext cx="310896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Parking &gt; 1500 m2 : obligation
(elargi a 500 m2 en juillet 2026)
Batiments commerciaux/industriels &gt; 500 m2 : integration PV obligatoire
Sanction jusqu'a 40 000 EUR/an.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CIBLE PROSPECTION : hypermarches, zones commerciales, centres logistiques, sites industriels, sieges sociaux avec grand parking.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6/22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6. Focus IRVE - bornes de recharge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Programme ADVENIR + obligation LOM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2F4D"/>
                </a:solidFill>
                <a:latin typeface="Calibri"/>
              </a:rPr>
              <a:t>Plafonds ADVENIR 2026 (indicatifs)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11247120" cy="50292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Particulier en immeuble collectif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84708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Calibri"/>
              </a:rPr>
              <a:t>Jusqu'a 960 EUR HT / point de charge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Copropriete - infrastructure collective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35000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Calibri"/>
              </a:rPr>
              <a:t>Jusqu'a 1660 EUR/point + 3000 EUR pre-equipement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50292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5292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Parking entreprise (salaries / flotte)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85292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Calibri"/>
              </a:rPr>
              <a:t>Jusqu'a 1700 EUR HT / 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3558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Parking ouvert au public (standard)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3558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Calibri"/>
              </a:rPr>
              <a:t>Jusqu'a 2700 EUR / point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49040"/>
            <a:ext cx="11247120" cy="50292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5876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Bornes tres haute puissance (&gt;140 kW)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85876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Calibri"/>
              </a:rPr>
              <a:t>Jusqu'a 15 000 EUR / point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36168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Voirie - acteurs publics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36168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Calibri"/>
              </a:rPr>
              <a:t>Sur dossier - jusqu'a 50% HT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029200"/>
            <a:ext cx="11247120" cy="12801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166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4A261"/>
                </a:solidFill>
                <a:latin typeface="Calibri"/>
              </a:rPr>
              <a:t>PREREQUIS HUARD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4864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1. Labellisation ADVENIR (formation Avere-France) - obligatoire pour declencher l'aide.
2. Qualification IRVE Qualifelec niveau 2 ou 3 selon puissance.
3. Engagement client avant signature du devis (clause ADVENIR a inclure dans tous nos devis IRVE).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7/22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7. CEE - fiches cles par metier HUARD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Recensement des fiches a fort effet de levier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3749039" cy="548640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3832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ELECTRICITE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3749039" cy="420624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194560"/>
            <a:ext cx="73152" cy="73152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57400"/>
            <a:ext cx="310895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BAT-EQ-127 - Luminaires LED tertiaire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971800"/>
            <a:ext cx="73152" cy="73152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34640"/>
            <a:ext cx="310895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BAT-EQ-133 - Gestion eclairage (DALI/KNX)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749040"/>
            <a:ext cx="73152" cy="73152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611880"/>
            <a:ext cx="310895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BAT-EQ-117 - Variation puissance eclairage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526280"/>
            <a:ext cx="73152" cy="73152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389120"/>
            <a:ext cx="310895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BAT-TH-116 - GTB classe A/B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303520"/>
            <a:ext cx="73152" cy="73152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66360"/>
            <a:ext cx="310895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IND-UT-103 - Variateur vitesse moteurs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399" y="1280160"/>
            <a:ext cx="3749039" cy="54864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79" y="1371600"/>
            <a:ext cx="33832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CVC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399" y="1828800"/>
            <a:ext cx="3749039" cy="420624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1999" y="2194560"/>
            <a:ext cx="73152" cy="7315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79" y="2057400"/>
            <a:ext cx="310895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BAT-TH-104 - PAC air/eau, eau/eau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1999" y="2971800"/>
            <a:ext cx="73152" cy="7315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79" y="2834640"/>
            <a:ext cx="310895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BAT-TH-127 - Raccordement reseau chaleur EnR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1999" y="3749040"/>
            <a:ext cx="73152" cy="7315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79" y="3611880"/>
            <a:ext cx="310895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BAT-TH-125/155 - VMC double flux HE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1999" y="4526280"/>
            <a:ext cx="73152" cy="7315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79" y="4389120"/>
            <a:ext cx="310895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BAT-TH-146 - Calorifugeage points singuliers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1999" y="5303520"/>
            <a:ext cx="73152" cy="7315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79" y="5166360"/>
            <a:ext cx="310895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BAT-TH-141 - Regulation programmation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598" y="1280160"/>
            <a:ext cx="3749039" cy="54864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78" y="1371600"/>
            <a:ext cx="33832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MAINTENANCE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598" y="1828800"/>
            <a:ext cx="3749039" cy="420624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58198" y="2194560"/>
            <a:ext cx="73152" cy="7315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41078" y="2057400"/>
            <a:ext cx="310895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BAT-TH-146 + BAT-TH-145 - Calorifugeage (P2/P3)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58198" y="2971800"/>
            <a:ext cx="73152" cy="7315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41078" y="2834640"/>
            <a:ext cx="310895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BAT-TH-116 - GTB exploitation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58198" y="3749040"/>
            <a:ext cx="73152" cy="7315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41078" y="3611880"/>
            <a:ext cx="310895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BAT-TH-141 - Programmation horaire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8198" y="4526280"/>
            <a:ext cx="73152" cy="7315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41078" y="4389120"/>
            <a:ext cx="310895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IND-UT-103 - VEV moteurs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58198" y="5303520"/>
            <a:ext cx="73152" cy="7315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41078" y="5166360"/>
            <a:ext cx="310895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Coup de pouce 'Pilotage connecte chauffage'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263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8"/>
                </a:solidFill>
                <a:latin typeface="Calibri"/>
              </a:rPr>
              <a:t>Telecoms/Informatique : actions specifiques datacenter (refroidissement, free cooling) + Diag Decarbon'Action Bpifrance.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8/22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8. Eligibilite par profil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Qui beneficie de quoi - grille express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377440" cy="384048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2286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Profil client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280160"/>
            <a:ext cx="1225296" cy="384048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325880"/>
            <a:ext cx="1133856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59936" y="1280160"/>
            <a:ext cx="1225296" cy="384048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05656" y="1325880"/>
            <a:ext cx="1133856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Coup de pouce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85232" y="1280160"/>
            <a:ext cx="1225296" cy="384048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0952" y="1325880"/>
            <a:ext cx="1133856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Fonds Chaleur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10528" y="1280160"/>
            <a:ext cx="1225296" cy="384048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325880"/>
            <a:ext cx="1133856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Bpifrance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35824" y="1280160"/>
            <a:ext cx="1225296" cy="384048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1544" y="1325880"/>
            <a:ext cx="1133856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Region IDF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1280160"/>
            <a:ext cx="1225296" cy="384048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325880"/>
            <a:ext cx="1133856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ADVENIR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86416" y="1280160"/>
            <a:ext cx="1225296" cy="384048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32136" y="1325880"/>
            <a:ext cx="1133856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MPR / Eco-PTZ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1664208"/>
            <a:ext cx="2377440" cy="38404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700784"/>
            <a:ext cx="2286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PME tertiaire &lt; 1000 m2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34640" y="1664208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80360" y="1700784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59936" y="1664208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05656" y="1700784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85232" y="1664208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0952" y="1700784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 (EnR)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10528" y="1664208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56248" y="1700784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35824" y="1664208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81544" y="1700784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1120" y="1664208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6840" y="1700784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86416" y="1664208"/>
            <a:ext cx="1225296" cy="384048"/>
          </a:xfrm>
          <a:prstGeom prst="rect">
            <a:avLst/>
          </a:prstGeom>
          <a:solidFill>
            <a:srgbClr val="F3C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32136" y="1700784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-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2048256"/>
            <a:ext cx="23774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2084832"/>
            <a:ext cx="2286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Tertiaire 1000-5000 m2 (DEET)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34640" y="2048256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80360" y="2084832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59936" y="2048256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05656" y="2084832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85232" y="2048256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30952" y="2084832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 (EnR)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10528" y="2048256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56248" y="2084832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35824" y="2048256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81544" y="2084832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61120" y="2048256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06840" y="2084832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186416" y="2048256"/>
            <a:ext cx="1225296" cy="384048"/>
          </a:xfrm>
          <a:prstGeom prst="rect">
            <a:avLst/>
          </a:prstGeom>
          <a:solidFill>
            <a:srgbClr val="F3C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32136" y="2084832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-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2432304"/>
            <a:ext cx="2377440" cy="38404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2468880"/>
            <a:ext cx="2286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Grand tertiaire &gt; 5000 m2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34640" y="2432304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80360" y="2468880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59936" y="2432304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05656" y="2468880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5232" y="2432304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30952" y="2468880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 (EnR)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10528" y="2432304"/>
            <a:ext cx="1225296" cy="38404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56248" y="2468880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Pret Vert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35824" y="2432304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81544" y="2468880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0" y="2432304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006840" y="2468880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186416" y="2432304"/>
            <a:ext cx="1225296" cy="384048"/>
          </a:xfrm>
          <a:prstGeom prst="rect">
            <a:avLst/>
          </a:prstGeom>
          <a:solidFill>
            <a:srgbClr val="F3C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32136" y="2468880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-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2816352"/>
            <a:ext cx="23774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852928"/>
            <a:ext cx="2286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Industrie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834640" y="2816352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880360" y="2852928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 (IND)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059936" y="2816352"/>
            <a:ext cx="1225296" cy="384048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05656" y="2852928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(selon)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285232" y="2816352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330952" y="2852928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510528" y="2816352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556248" y="2852928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735824" y="2816352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781544" y="2852928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961120" y="2816352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006840" y="2852928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186416" y="2816352"/>
            <a:ext cx="1225296" cy="384048"/>
          </a:xfrm>
          <a:prstGeom prst="rect">
            <a:avLst/>
          </a:prstGeom>
          <a:solidFill>
            <a:srgbClr val="F3C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232136" y="2852928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-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3200400"/>
            <a:ext cx="2377440" cy="38404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3236976"/>
            <a:ext cx="2286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Collectivite (commune/MGP)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834640" y="3200400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880360" y="3236976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 (BAT)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059936" y="3200400"/>
            <a:ext cx="1225296" cy="384048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105656" y="3236976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(selon)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285232" y="3200400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330952" y="3236976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510528" y="3200400"/>
            <a:ext cx="1225296" cy="38404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56248" y="3236976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Banque Territoires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35824" y="3200400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781544" y="3236976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961120" y="3200400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006840" y="3236976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186416" y="3200400"/>
            <a:ext cx="1225296" cy="384048"/>
          </a:xfrm>
          <a:prstGeom prst="rect">
            <a:avLst/>
          </a:prstGeom>
          <a:solidFill>
            <a:srgbClr val="F3C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232136" y="3236976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-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57200" y="3584448"/>
            <a:ext cx="23774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02920" y="3621024"/>
            <a:ext cx="2286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Copropriete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834640" y="3584448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80360" y="3621024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059936" y="3584448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105656" y="3621024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285232" y="3584448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330952" y="3621024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 (EnR)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510528" y="3584448"/>
            <a:ext cx="1225296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556248" y="3621024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Eco-PTZ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735824" y="3584448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781544" y="3621024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 (POSIT'IF)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961120" y="3584448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006840" y="3621024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186416" y="3584448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232136" y="3621024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 (MPR Copro)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57200" y="3968496"/>
            <a:ext cx="2377440" cy="38404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02920" y="4005072"/>
            <a:ext cx="2286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Particulier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834640" y="3968496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880360" y="4005072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 (BAR)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059936" y="3968496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105656" y="4005072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285232" y="3968496"/>
            <a:ext cx="1225296" cy="384048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330952" y="4005072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(limite)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510528" y="3968496"/>
            <a:ext cx="1225296" cy="384048"/>
          </a:xfrm>
          <a:prstGeom prst="rect">
            <a:avLst/>
          </a:prstGeom>
          <a:solidFill>
            <a:srgbClr val="F3C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556248" y="4005072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-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735824" y="3968496"/>
            <a:ext cx="1225296" cy="384048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781544" y="4005072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(selon)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961120" y="3968496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006840" y="4005072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 (960 EUR)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186416" y="3968496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232136" y="4005072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 (MPR + Eco-PTZ)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57200" y="4352544"/>
            <a:ext cx="23774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02920" y="4389120"/>
            <a:ext cx="2286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Hotel / sante / education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834640" y="4352544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2880360" y="4389120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059936" y="4352544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105656" y="4389120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285232" y="4352544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330952" y="4389120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 (ECS solaire, biomasse)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510528" y="4352544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556248" y="4389120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735824" y="4352544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781544" y="4389120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961120" y="4352544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006840" y="4389120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186416" y="4352544"/>
            <a:ext cx="1225296" cy="384048"/>
          </a:xfrm>
          <a:prstGeom prst="rect">
            <a:avLst/>
          </a:prstGeom>
          <a:solidFill>
            <a:srgbClr val="F3C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232136" y="4389120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-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57200" y="4736592"/>
            <a:ext cx="2377440" cy="38404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02920" y="4773168"/>
            <a:ext cx="2286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Logistique / entrepots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834640" y="4736592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880360" y="4773168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059936" y="4736592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105656" y="4773168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285232" y="4736592"/>
            <a:ext cx="1225296" cy="384048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330952" y="4773168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(selon)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510528" y="4736592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556248" y="4773168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735824" y="4736592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81544" y="4773168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961120" y="4736592"/>
            <a:ext cx="1225296" cy="38404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9006840" y="4773168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X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10186416" y="4736592"/>
            <a:ext cx="1225296" cy="384048"/>
          </a:xfrm>
          <a:prstGeom prst="rect">
            <a:avLst/>
          </a:prstGeom>
          <a:solidFill>
            <a:srgbClr val="F3C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10232136" y="4773168"/>
            <a:ext cx="11338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1F2F4D"/>
                </a:solidFill>
                <a:latin typeface="Calibri"/>
              </a:rPr>
              <a:t>-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Calibri"/>
              </a:rPr>
              <a:t>Legende : X = eligible / (selon) = sous conditions ou selon AAP en cours / - = non eligible directement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9/22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9. Cumul des aides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Regles d'or pour eviter les pieges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47120" cy="6400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37160" cy="6400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Cumul CEE + Fonds Chaleur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371600"/>
            <a:ext cx="7040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POSSIBLE mais : ne pas subventionner deux fois le meme equipement. ADEME verifie. Bien isoler les lots.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1124712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65960"/>
            <a:ext cx="137160" cy="6400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5740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Cumul CEE + MaPrimeRenov / MPR Copro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057400"/>
            <a:ext cx="7040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POSSIBLE. Logique : CEE deduit du devis, MPR verse au client. Decret MPR autorise.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51760"/>
            <a:ext cx="11247120" cy="6400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651760"/>
            <a:ext cx="137160" cy="64008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4320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Cumul CEE + ADVENIR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743200"/>
            <a:ext cx="7040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NON CUMULABLE. ADVENIR est finance via les CEE - on choisit l'un OU l'autre par point de charge.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124712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37560"/>
            <a:ext cx="137160" cy="6400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42900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Cumul CEE + Bpifrance Pret Vert / PEE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429000"/>
            <a:ext cx="7040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POSSIBLE. Le pret finance le reste a charge apres aides directes.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23360"/>
            <a:ext cx="137160" cy="6400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1480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Cumul CEE + Region IDF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114800"/>
            <a:ext cx="7040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POSSIBLE sous regime de minimis (200 000 EUR sur 3 ans par entreprise).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709160"/>
            <a:ext cx="1124712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709160"/>
            <a:ext cx="137160" cy="6400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80060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Cumul Coup de pouce + CEE classique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800600"/>
            <a:ext cx="7040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Le Coup de pouce REMPLACE la fiche CEE classique sur la meme operation - bonification appliquee.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394960"/>
            <a:ext cx="11247120" cy="6400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394960"/>
            <a:ext cx="137160" cy="6400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48640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Cumul TVA 5,5% / 10%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486400"/>
            <a:ext cx="7040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CUMULABLE avec toutes les aides - attestation client systematique.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10/22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10. Pitch 1 - Decret Tertiaire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Le pitch a deployer chez tous nos clients &gt; 1000 m2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11247120" cy="118872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« Vous etes oblige par le decret tertiaire d'atteindre -40% de conso en 2030. Si vous ne deposez pas la declaration OPERAT, c'est 7500 EUR d'amende plus le name &amp; shame. Nous proposons un parcours simple : audit -&gt; plan d'actions -&gt; travaux finances jusqu'a 70% par CEE + ADEME. 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F4D"/>
                </a:solidFill>
                <a:latin typeface="Calibri"/>
              </a:rPr>
              <a:t>Cible commerciale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53035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F4D"/>
                </a:solidFill>
                <a:latin typeface="Calibri"/>
              </a:rPr>
              <a:t>- Bureaux et commerces &gt; 1000 m2
- Hopitaux, ehpad, cliniques
- Hotels et residences services
- Etablissements scolaires prives et publics
- Centres commerciaux
- Logistique et entrepots tertiaires
- Sieges sociaux groupes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517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F4D"/>
                </a:solidFill>
                <a:latin typeface="Calibri"/>
              </a:rPr>
              <a:t>Outils a sortir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108960"/>
            <a:ext cx="53035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F4D"/>
                </a:solidFill>
                <a:latin typeface="Calibri"/>
              </a:rPr>
              <a:t>- One-pager DEET (a creer en interne)
- Acces OPERAT (donnees publiques)
- Modele de bilan d'audit en 1 page
- Catalogue chiffrages CEE bonifies
- Liste des partenaires BE qualifies
- Contact mandataire CEE + ADEME IDF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11/22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11. Pitch 2 - Copropriete IDF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Le marche structurant pour HUARD en Ile-de-France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11247120" cy="118872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« Votre copropriete chauffe au fioul/gaz collectif ? Le coup de pouce CEE bonifie x4 le remplacement par PAC ou raccordement reseau de chaleur. Plus MaPrimeRenov Copropriete jusqu'a 25%, plus Energies POSIT'IF qui peut financer la totalite via tiers-financement. Resultat : projet vote en AG sans appel de fonds disproportionne. 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F4D"/>
                </a:solidFill>
                <a:latin typeface="Calibri"/>
              </a:rPr>
              <a:t>Aides cumulables sur copro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00400"/>
            <a:ext cx="5669280" cy="4114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7355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MaPrimeRenov Copropriete (Anah)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273552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1F2F4D"/>
                </a:solidFill>
                <a:latin typeface="Calibri"/>
              </a:rPr>
              <a:t>Jusqu'a 25% du HT + bonus sortie passoire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57600"/>
            <a:ext cx="5669280" cy="4114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3075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CEE + Coup de pouce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730752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1F2F4D"/>
                </a:solidFill>
                <a:latin typeface="Calibri"/>
              </a:rPr>
              <a:t>Bonification x2-4 sur sortie fioul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5669280" cy="4114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18795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Eco-PTZ collectif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187952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1F2F4D"/>
                </a:solidFill>
                <a:latin typeface="Calibri"/>
              </a:rPr>
              <a:t>Jusqu'a 50 000 EUR / logement (0%)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72000"/>
            <a:ext cx="5669280" cy="4114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4515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Energies POSIT'IF (Region IDF)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645152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1F2F4D"/>
                </a:solidFill>
                <a:latin typeface="Calibri"/>
              </a:rPr>
              <a:t>Tiers-financement integral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29200"/>
            <a:ext cx="5669280" cy="4114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10235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Region IDF + Departements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102352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1F2F4D"/>
                </a:solidFill>
                <a:latin typeface="Calibri"/>
              </a:rPr>
              <a:t>Subventions complementaires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486400"/>
            <a:ext cx="5669280" cy="4114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55955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ADVENIR (IRVE collective)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559552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1F2F4D"/>
                </a:solidFill>
                <a:latin typeface="Calibri"/>
              </a:rPr>
              <a:t>Jusqu'a 1660 EUR/point + 3000 EUR pre-eq.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6517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F4D"/>
                </a:solidFill>
                <a:latin typeface="Calibri"/>
              </a:rPr>
              <a:t>Strategie HUARD copro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200400"/>
            <a:ext cx="530352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1. Cartographier les syndics partenaires IDF
2. Proposer des reunions d'information dediees AG
3. Outils : 'one-pager financement copro' par typologie
4. Partenariat Energies POSIT'IF et MAR (Mon Accompagnateur Renov)
5. Offre tout-en-un : chauffage + ECS + IRVE + parties communes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12/22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12. Pitch 3 - Loi APER &amp; ombrieres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Marche captif - 24 mois pour se positionner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11247120" cy="118872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« Tout parking &gt; 1500 m2 doit etre couvert d'ombrieres PV. En juillet 2026, le seuil descend a 500 m2. Sanction : jusqu'a 40 000 EUR/an non couverte. Sur 1000 m2 de parking, c'est ~100 kWc PV, soit 13-15k EUR/an de revente surplus + prime autoconso. Nous montons le projet cle en main. 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F4D"/>
                </a:solidFill>
                <a:latin typeface="Calibri"/>
              </a:rPr>
              <a:t>Cibles a prospecter en priorite sur l'IDF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00400"/>
            <a:ext cx="5577840" cy="77724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Hypermarches &amp; GMS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8444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Calibri"/>
              </a:rPr>
              <a:t>Auchan, Carrefour, Leclerc, Casino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200400"/>
            <a:ext cx="5577840" cy="77724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2918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Centres commerciaux &amp; retail parks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8444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Calibri"/>
              </a:rPr>
              <a:t>Westfield, Klepierre, Hammerson, Mercialys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069080"/>
            <a:ext cx="5577840" cy="77724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Logistique &amp; messagerie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5312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Calibri"/>
              </a:rPr>
              <a:t>Prologis, GLP, Goodman, Argan, Geodis, DHL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069080"/>
            <a:ext cx="5577840" cy="77724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1605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Concessions automobiles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5312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Calibri"/>
              </a:rPr>
              <a:t>Stellantis, Renault, BMW, Mercedes (parkings)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937760"/>
            <a:ext cx="5577840" cy="77724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0292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Zones industrielles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2180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Calibri"/>
              </a:rPr>
              <a:t>ZI Trappes, Massy, Senart, Roissy, Cergy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937760"/>
            <a:ext cx="5577840" cy="77724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50292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F4D"/>
                </a:solidFill>
                <a:latin typeface="Calibri"/>
              </a:rPr>
              <a:t>Sieges et campus tertiaires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32180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Calibri"/>
              </a:rPr>
              <a:t>Saclay, La Defense, Velizy, Rueil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13/22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13. Plan d'actions commercial 90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Roadmap d'activation interne et externe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463040" cy="118872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J0-J15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Outillage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1234440"/>
            <a:ext cx="9784080" cy="118872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1371600"/>
            <a:ext cx="9509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- Diffusion du classeur Excel + PPT aux equipes
- Formation 2h : top 10 leviers + cas concrets
- Creation one-pagers par metier (DEET, BACS, APER, IRVE)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32888"/>
            <a:ext cx="1463040" cy="1188720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71576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J15-J45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2724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Activation interne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2532888"/>
            <a:ext cx="9784080" cy="118872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2670048"/>
            <a:ext cx="9509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- Selection mandataire CEE partenaire (negociation rachat kWh cumac)
- Confirmation labellisation ADVENIR + Qualifelec IRVE
- Mise a jour devis type : mentions CEE/ADVENIR/TVA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31336"/>
            <a:ext cx="1463040" cy="1188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14216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J45-J75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25696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Detection clients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20240" y="3831336"/>
            <a:ext cx="9784080" cy="118872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3120" y="3968496"/>
            <a:ext cx="9509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- Scan portefeuille : clients &gt; 1000 m2 tertiaire (DEET) et &gt; 290 kW CVC (BACS)
- Liste prospect ombrieres : parkings &gt; 500 m2
- Liste copros IDF avec chauffage collectif fioul/gaz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29784"/>
            <a:ext cx="1463040" cy="118872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312664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J75-J90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724144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Mise en pression commerciale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20240" y="5129784"/>
            <a:ext cx="9784080" cy="118872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03120" y="5266944"/>
            <a:ext cx="9509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- Campagne de RDV 'Audit aides energie' (gratuit, 30 min)
- KPIs : nombre d'audits realises, devis emis avec aides, taux signature
- Reporting mensuel COMEX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14/22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14. Sources officielles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A garder en favoris - documentation et veille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577840" cy="3657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4416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CEE - fiches standardisees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34416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D81A6"/>
                </a:solidFill>
                <a:latin typeface="Calibri"/>
              </a:rPr>
              <a:t>ecologie.gouv.fr/operations-standardisees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778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4416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Coups de pouce CEE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134416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D81A6"/>
                </a:solidFill>
                <a:latin typeface="Calibri"/>
              </a:rPr>
              <a:t>ecologie.gouv.fr/coup-pouce-economies-denergie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37360"/>
            <a:ext cx="5577840" cy="3657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80136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OPERAT - Decret Tertiaire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80136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D81A6"/>
                </a:solidFill>
                <a:latin typeface="Calibri"/>
              </a:rPr>
              <a:t>operat.ademe.fr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737360"/>
            <a:ext cx="55778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80136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Decret BACS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180136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D81A6"/>
                </a:solidFill>
                <a:latin typeface="Calibri"/>
              </a:rPr>
              <a:t>ecologie.gouv.fr/decret-bacs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94560"/>
            <a:ext cx="5577840" cy="3657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25856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ADEME - Fonds Chaleur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225856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D81A6"/>
                </a:solidFill>
                <a:latin typeface="Calibri"/>
              </a:rPr>
              <a:t>fondschaleur.ademe.fr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194560"/>
            <a:ext cx="55778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25856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ADEME - Agir transition (Tremplin, Diag)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25856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D81A6"/>
                </a:solidFill>
                <a:latin typeface="Calibri"/>
              </a:rPr>
              <a:t>agirpourlatransition.ademe.fr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651760"/>
            <a:ext cx="5577840" cy="3657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71576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Bpifrance - offres TEE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271576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D81A6"/>
                </a:solidFill>
                <a:latin typeface="Calibri"/>
              </a:rPr>
              <a:t>bpifrance.fr/catalogue-offres/transition-ecologique-et-energetique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651760"/>
            <a:ext cx="55778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271576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Programme ADVENIR (IRVE)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71576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D81A6"/>
                </a:solidFill>
                <a:latin typeface="Calibri"/>
              </a:rPr>
              <a:t>advenir.mobi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108960"/>
            <a:ext cx="5577840" cy="3657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17296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Programme ACTEE (collectivites)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17296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D81A6"/>
                </a:solidFill>
                <a:latin typeface="Calibri"/>
              </a:rPr>
              <a:t>programme-actee.fr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108960"/>
            <a:ext cx="55778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317296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MaPrimeRenov / France Renov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17296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D81A6"/>
                </a:solidFill>
                <a:latin typeface="Calibri"/>
              </a:rPr>
              <a:t>france-renov.gouv.fr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566160"/>
            <a:ext cx="5577840" cy="3657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63016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EDF Obligation d'achat solaire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83280" y="363016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D81A6"/>
                </a:solidFill>
                <a:latin typeface="Calibri"/>
              </a:rPr>
              <a:t>edf-oa.fr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3566160"/>
            <a:ext cx="55778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3016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Photovoltaique.info (Hespul)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363016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D81A6"/>
                </a:solidFill>
                <a:latin typeface="Calibri"/>
              </a:rPr>
              <a:t>photovoltaique.info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023360"/>
            <a:ext cx="5577840" cy="3657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08736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Region IDF - aides TEE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80" y="408736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D81A6"/>
                </a:solidFill>
                <a:latin typeface="Calibri"/>
              </a:rPr>
              <a:t>iledefrance.fr/aides-services/transition-energetique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4023360"/>
            <a:ext cx="55778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5080" y="408736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Energies POSIT'IF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408736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D81A6"/>
                </a:solidFill>
                <a:latin typeface="Calibri"/>
              </a:rPr>
              <a:t>energiespositif.fr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480560"/>
            <a:ext cx="5577840" cy="3657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454456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ADEME Ile-de-France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83280" y="454456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D81A6"/>
                </a:solidFill>
                <a:latin typeface="Calibri"/>
              </a:rPr>
              <a:t>ile-de-france.ademe.fr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4480560"/>
            <a:ext cx="55778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55080" y="454456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Annuaires RGE - Qualibat, Qualifelec, QualiPV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4456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D81A6"/>
                </a:solidFill>
                <a:latin typeface="Calibri"/>
              </a:rPr>
              <a:t>qualibat.com / qualifelec.fr / qualit-enr.org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15/22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15. Plan administratif HUARD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Pipeline de montage des aides client - 6 phases / de J0 a J+330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1874519" cy="457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691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J0 - J+2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1874519" cy="6400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6916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1
DETECTION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1874519" cy="301752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600199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1F2F4D"/>
                </a:solidFill>
                <a:latin typeface="Calibri"/>
              </a:rPr>
              <a:t>Commercial qualifie
Grille eligibilite
OPERAT si DEET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94559" y="3108960"/>
            <a:ext cx="137160" cy="228600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31719" y="1280160"/>
            <a:ext cx="1874519" cy="45720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23159" y="1371600"/>
            <a:ext cx="1691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J+3 - J+10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19" y="1737360"/>
            <a:ext cx="1874519" cy="64008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59" y="1828800"/>
            <a:ext cx="16916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2
PRE-ETUDE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31719" y="2377440"/>
            <a:ext cx="1874519" cy="301752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79" y="2514600"/>
            <a:ext cx="1600199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1F2F4D"/>
                </a:solidFill>
                <a:latin typeface="Calibri"/>
              </a:rPr>
              <a:t>Chiffrage CEE / ADVENIR
Note opportunite
Devis pre-detaille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160518" y="3108960"/>
            <a:ext cx="137160" cy="228600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78" y="1280160"/>
            <a:ext cx="1874519" cy="457200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18" y="1371600"/>
            <a:ext cx="1691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J+10 - J+20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78" y="1737360"/>
            <a:ext cx="1874519" cy="640080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18" y="1828800"/>
            <a:ext cx="16916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3
DOSSIER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78" y="2377440"/>
            <a:ext cx="1874519" cy="301752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38" y="2514600"/>
            <a:ext cx="1600199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1F2F4D"/>
                </a:solidFill>
                <a:latin typeface="Calibri"/>
              </a:rPr>
              <a:t>Mandat client
Pieces RGE / audit
Photos avant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126477" y="3108960"/>
            <a:ext cx="137160" cy="228600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37" y="1280160"/>
            <a:ext cx="1874519" cy="457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77" y="1371600"/>
            <a:ext cx="1691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J+15 - J+25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37" y="1737360"/>
            <a:ext cx="1874519" cy="6400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77" y="1828800"/>
            <a:ext cx="16916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4
ENGAGEMENT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37" y="2377440"/>
            <a:ext cx="1874519" cy="301752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797" y="2514600"/>
            <a:ext cx="1600199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1F2F4D"/>
                </a:solidFill>
                <a:latin typeface="Calibri"/>
              </a:rPr>
              <a:t>Depot plateforme
(CEE/ADVENIR/MPR)
PUIS signature devis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092436" y="3108960"/>
            <a:ext cx="137160" cy="228600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596" y="1280160"/>
            <a:ext cx="1874519" cy="457200"/>
          </a:xfrm>
          <a:prstGeom prst="rect">
            <a:avLst/>
          </a:prstGeom>
          <a:solidFill>
            <a:srgbClr val="82C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36" y="1371600"/>
            <a:ext cx="1691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J+25 - J+150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596" y="1737360"/>
            <a:ext cx="1874519" cy="640080"/>
          </a:xfrm>
          <a:prstGeom prst="rect">
            <a:avLst/>
          </a:prstGeom>
          <a:solidFill>
            <a:srgbClr val="82C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36" y="1828800"/>
            <a:ext cx="16916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5
TRAVAUX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596" y="2377440"/>
            <a:ext cx="1874519" cy="301752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6756" y="2514600"/>
            <a:ext cx="1600199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1F2F4D"/>
                </a:solidFill>
                <a:latin typeface="Calibri"/>
              </a:rPr>
              <a:t>Execution + tracabilite
Factures detaillees
PV pose + photos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0058395" y="3108960"/>
            <a:ext cx="137160" cy="228600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195555" y="1280160"/>
            <a:ext cx="1874519" cy="45720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86995" y="1371600"/>
            <a:ext cx="1691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J+150 - J+330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95555" y="1737360"/>
            <a:ext cx="1874519" cy="64008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86995" y="1828800"/>
            <a:ext cx="16916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6
VERSEMENT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195555" y="2377440"/>
            <a:ext cx="1874519" cy="301752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32715" y="2514600"/>
            <a:ext cx="1600199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1F2F4D"/>
                </a:solidFill>
                <a:latin typeface="Calibri"/>
              </a:rPr>
              <a:t>Pieces de cloture
Versement aide
Suivi 3-5 ans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669280"/>
            <a:ext cx="11430000" cy="59436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57607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POINT CRITIQUE : pour CEE et ADVENIR, l'engagement sur plateforme DOIT etre fait AVANT signature devis - sinon prime perdue.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16/22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16. RACI interne HUARD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Qui fait quoi - matrice claire pour eviter les trous dans la raquette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657600" cy="329184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25296"/>
            <a:ext cx="35661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188720"/>
            <a:ext cx="1554480" cy="329184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60520" y="1225296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Commercial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188720"/>
            <a:ext cx="1554480" cy="329184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0" y="1225296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Charge d'affaires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1188720"/>
            <a:ext cx="1554480" cy="329184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1225296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Service aides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0" y="1188720"/>
            <a:ext cx="1554480" cy="329184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1225296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Conduite trvx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32720" y="1188720"/>
            <a:ext cx="1554480" cy="329184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78440" y="1225296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Comptabilite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517904"/>
            <a:ext cx="3657600" cy="329184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1554480"/>
            <a:ext cx="34747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Detection / qualification client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517904"/>
            <a:ext cx="1554480" cy="3291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0520" y="1554480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1517904"/>
            <a:ext cx="1554480" cy="329184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0" y="1554480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3760" y="1517904"/>
            <a:ext cx="1554480" cy="329184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9480" y="1554480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0" y="1517904"/>
            <a:ext cx="1554480" cy="329184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3960" y="1554480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32720" y="1517904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78440" y="1554480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A6478"/>
                </a:solidFill>
                <a:latin typeface="Calibri"/>
              </a:rPr>
              <a:t>-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1847088"/>
            <a:ext cx="36576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1883664"/>
            <a:ext cx="34747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Chiffrage devis + aides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0" y="1847088"/>
            <a:ext cx="1554480" cy="329184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60520" y="1883664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1847088"/>
            <a:ext cx="1554480" cy="3291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5000" y="1883664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3760" y="1847088"/>
            <a:ext cx="1554480" cy="329184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69480" y="1883664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1847088"/>
            <a:ext cx="1554480" cy="329184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23960" y="1883664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332720" y="1847088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78440" y="1883664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A6478"/>
                </a:solidFill>
                <a:latin typeface="Calibri"/>
              </a:rPr>
              <a:t>-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2176272"/>
            <a:ext cx="3657600" cy="329184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2212848"/>
            <a:ext cx="34747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Choix du dispositif optimal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0" y="2176272"/>
            <a:ext cx="1554480" cy="329184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60520" y="2212848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0" y="2176272"/>
            <a:ext cx="1554480" cy="329184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5000" y="2212848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23760" y="2176272"/>
            <a:ext cx="1554480" cy="3291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69480" y="2212848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778240" y="2176272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23960" y="2212848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A6478"/>
                </a:solidFill>
                <a:latin typeface="Calibri"/>
              </a:rPr>
              <a:t>-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332720" y="2176272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378440" y="2212848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A6478"/>
                </a:solidFill>
                <a:latin typeface="Calibri"/>
              </a:rPr>
              <a:t>-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2505456"/>
            <a:ext cx="36576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2542032"/>
            <a:ext cx="34747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Constitution dossier admin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0" y="2505456"/>
            <a:ext cx="1554480" cy="329184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60520" y="2542032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0" y="2505456"/>
            <a:ext cx="1554480" cy="329184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15000" y="2542032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223760" y="2505456"/>
            <a:ext cx="1554480" cy="3291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69480" y="2542032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778240" y="2505456"/>
            <a:ext cx="1554480" cy="329184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823960" y="2542032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2505456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378440" y="2542032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A6478"/>
                </a:solidFill>
                <a:latin typeface="Calibri"/>
              </a:rPr>
              <a:t>-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" y="2834640"/>
            <a:ext cx="3657600" cy="329184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2871216"/>
            <a:ext cx="34747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Mandat client signature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2834640"/>
            <a:ext cx="1554480" cy="3291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60520" y="2871216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669280" y="2834640"/>
            <a:ext cx="1554480" cy="329184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715000" y="2871216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C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23760" y="2834640"/>
            <a:ext cx="1554480" cy="329184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69480" y="2871216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778240" y="2834640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823960" y="2871216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A6478"/>
                </a:solidFill>
                <a:latin typeface="Calibri"/>
              </a:rPr>
              <a:t>-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332720" y="2834640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378440" y="2871216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A6478"/>
                </a:solidFill>
                <a:latin typeface="Calibri"/>
              </a:rPr>
              <a:t>-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3163824"/>
            <a:ext cx="36576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8640" y="3200400"/>
            <a:ext cx="34747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Engagement plateformes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14800" y="3163824"/>
            <a:ext cx="1554480" cy="329184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60520" y="3200400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I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69280" y="3163824"/>
            <a:ext cx="1554480" cy="329184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715000" y="3200400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C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23760" y="3163824"/>
            <a:ext cx="1554480" cy="3291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269480" y="3200400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778240" y="3163824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23960" y="3200400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A6478"/>
                </a:solidFill>
                <a:latin typeface="Calibri"/>
              </a:rPr>
              <a:t>-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32720" y="3163824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378440" y="3200400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A6478"/>
                </a:solidFill>
                <a:latin typeface="Calibri"/>
              </a:rPr>
              <a:t>-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7200" y="3493008"/>
            <a:ext cx="3657600" cy="329184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8640" y="3529584"/>
            <a:ext cx="34747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Signature devis (apres engagement)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0" y="3493008"/>
            <a:ext cx="1554480" cy="3291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60520" y="3529584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669280" y="3493008"/>
            <a:ext cx="1554480" cy="329184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715000" y="3529584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C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223760" y="3493008"/>
            <a:ext cx="1554480" cy="329184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269480" y="3529584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I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778240" y="3493008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823960" y="3529584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A6478"/>
                </a:solidFill>
                <a:latin typeface="Calibri"/>
              </a:rPr>
              <a:t>-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332720" y="3493008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378440" y="3529584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A6478"/>
                </a:solidFill>
                <a:latin typeface="Calibri"/>
              </a:rPr>
              <a:t>-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57200" y="3822192"/>
            <a:ext cx="36576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48640" y="3858768"/>
            <a:ext cx="34747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Execution + tracabilite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114800" y="3822192"/>
            <a:ext cx="1554480" cy="329184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160520" y="3858768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I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280" y="3822192"/>
            <a:ext cx="1554480" cy="329184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15000" y="3858768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C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223760" y="3822192"/>
            <a:ext cx="1554480" cy="329184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269480" y="3858768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I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778240" y="3822192"/>
            <a:ext cx="1554480" cy="3291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823960" y="3858768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332720" y="3822192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378440" y="3858768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A6478"/>
                </a:solidFill>
                <a:latin typeface="Calibri"/>
              </a:rPr>
              <a:t>-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57200" y="4151376"/>
            <a:ext cx="3657600" cy="329184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48640" y="4187952"/>
            <a:ext cx="34747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Depot pieces cloture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114800" y="4151376"/>
            <a:ext cx="1554480" cy="329184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160520" y="4187952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I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669280" y="4151376"/>
            <a:ext cx="1554480" cy="329184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715000" y="4187952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C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223760" y="4151376"/>
            <a:ext cx="1554480" cy="3291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269480" y="4187952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778240" y="4151376"/>
            <a:ext cx="1554480" cy="329184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823960" y="4187952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C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332720" y="4151376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378440" y="4187952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A6478"/>
                </a:solidFill>
                <a:latin typeface="Calibri"/>
              </a:rPr>
              <a:t>-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57200" y="4480560"/>
            <a:ext cx="36576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48640" y="4517136"/>
            <a:ext cx="34747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Versement + facturation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114800" y="4480560"/>
            <a:ext cx="1554480" cy="329184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160520" y="4517136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I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669280" y="4480560"/>
            <a:ext cx="1554480" cy="329184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715000" y="4517136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I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223760" y="4480560"/>
            <a:ext cx="1554480" cy="3291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269480" y="4517136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778240" y="4480560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823960" y="4517136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A6478"/>
                </a:solidFill>
                <a:latin typeface="Calibri"/>
              </a:rPr>
              <a:t>-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0332720" y="4480560"/>
            <a:ext cx="1554480" cy="329184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378440" y="4517136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C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57200" y="4809744"/>
            <a:ext cx="3657600" cy="329184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48640" y="4846320"/>
            <a:ext cx="34747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F2F4D"/>
                </a:solidFill>
                <a:latin typeface="Calibri"/>
              </a:rPr>
              <a:t>Controle a posteriori 3-5 ans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114800" y="4809744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160520" y="4846320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A6478"/>
                </a:solidFill>
                <a:latin typeface="Calibri"/>
              </a:rPr>
              <a:t>-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669280" y="4809744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715000" y="4846320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A6478"/>
                </a:solidFill>
                <a:latin typeface="Calibri"/>
              </a:rPr>
              <a:t>-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223760" y="4809744"/>
            <a:ext cx="1554480" cy="3291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269480" y="4846320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778240" y="4809744"/>
            <a:ext cx="1554480" cy="329184"/>
          </a:xfrm>
          <a:prstGeom prst="rect">
            <a:avLst/>
          </a:prstGeom>
          <a:solidFill>
            <a:srgbClr val="FFE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823960" y="4846320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C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332720" y="4809744"/>
            <a:ext cx="1554480" cy="329184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378440" y="4846320"/>
            <a:ext cx="1463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F2F4D"/>
                </a:solidFill>
                <a:latin typeface="Calibri"/>
              </a:rPr>
              <a:t>I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7200" y="53218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R = Realise   /   C = Consulte   /   I = Informe   /   - = Non implique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7200" y="57790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Calibri"/>
              </a:rPr>
              <a:t>RECOMMANDATION : creer un poste 'Referent aides energie' (1 ETP) pour porter la phase 2 a 6 - amorti des le 1er trimestre sur le volume vise.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17/22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17. Matrice projet x aides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16 types de projets HUARD - toutes les aides cumulables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3657600" cy="292608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16152"/>
            <a:ext cx="356616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Projet HUARD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0" y="1188720"/>
            <a:ext cx="1371600" cy="292608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69080" y="1216152"/>
            <a:ext cx="128016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Activite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1188720"/>
            <a:ext cx="5029200" cy="292608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1216152"/>
            <a:ext cx="493776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Aides mobilisables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1188720"/>
            <a:ext cx="1828800" cy="292608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69880" y="1216152"/>
            <a:ext cx="173736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Couverture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481328"/>
            <a:ext cx="36576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508760"/>
            <a:ext cx="34747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1F2F4D"/>
                </a:solidFill>
                <a:latin typeface="Calibri"/>
              </a:rPr>
              <a:t>Relamping LED tertiaire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1481328"/>
            <a:ext cx="13716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0" y="1508760"/>
            <a:ext cx="1371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5D81A6"/>
                </a:solidFill>
                <a:latin typeface="Calibri"/>
              </a:rPr>
              <a:t>ELEC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1481328"/>
            <a:ext cx="50292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1508760"/>
            <a:ext cx="48463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1F2F4D"/>
                </a:solidFill>
                <a:latin typeface="Calibri"/>
              </a:rPr>
              <a:t>CEE BAT-EQ-127 + 133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481328"/>
            <a:ext cx="1828800" cy="29260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0" y="1508760"/>
            <a:ext cx="1828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2A9D8F"/>
                </a:solidFill>
                <a:latin typeface="Calibri"/>
              </a:rPr>
              <a:t>30-70%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1773936"/>
            <a:ext cx="3657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1801368"/>
            <a:ext cx="34747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1F2F4D"/>
                </a:solidFill>
                <a:latin typeface="Calibri"/>
              </a:rPr>
              <a:t>Chaudiere fioul -&gt; PAC copro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1773936"/>
            <a:ext cx="1371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23360" y="1801368"/>
            <a:ext cx="1371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5D81A6"/>
                </a:solidFill>
                <a:latin typeface="Calibri"/>
              </a:rPr>
              <a:t>CVC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94960" y="1773936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0" y="1801368"/>
            <a:ext cx="48463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1F2F4D"/>
                </a:solidFill>
                <a:latin typeface="Calibri"/>
              </a:rPr>
              <a:t>CEE bonifie x4 + MPR Copro + POSIT'IF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24160" y="1773936"/>
            <a:ext cx="1828800" cy="29260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60" y="1801368"/>
            <a:ext cx="1828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2A9D8F"/>
                </a:solidFill>
                <a:latin typeface="Calibri"/>
              </a:rPr>
              <a:t>40-80%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066544"/>
            <a:ext cx="36576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093976"/>
            <a:ext cx="34747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1F2F4D"/>
                </a:solidFill>
                <a:latin typeface="Calibri"/>
              </a:rPr>
              <a:t>PAC tertiaire &gt;100 kW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3360" y="2066544"/>
            <a:ext cx="13716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23360" y="2093976"/>
            <a:ext cx="1371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5D81A6"/>
                </a:solidFill>
                <a:latin typeface="Calibri"/>
              </a:rPr>
              <a:t>CVC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94960" y="2066544"/>
            <a:ext cx="50292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0" y="2093976"/>
            <a:ext cx="48463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1F2F4D"/>
                </a:solidFill>
                <a:latin typeface="Calibri"/>
              </a:rPr>
              <a:t>CEE + Coup de pouce + Fonds Chaleur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424160" y="2066544"/>
            <a:ext cx="1828800" cy="29260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24160" y="2093976"/>
            <a:ext cx="1828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2A9D8F"/>
                </a:solidFill>
                <a:latin typeface="Calibri"/>
              </a:rPr>
              <a:t>30-65%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359152"/>
            <a:ext cx="3657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2386584"/>
            <a:ext cx="34747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1F2F4D"/>
                </a:solidFill>
                <a:latin typeface="Calibri"/>
              </a:rPr>
              <a:t>PV autoconso 9-100 kWc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360" y="2359152"/>
            <a:ext cx="1371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3360" y="2386584"/>
            <a:ext cx="1371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5D81A6"/>
                </a:solidFill>
                <a:latin typeface="Calibri"/>
              </a:rPr>
              <a:t>ELEC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60" y="2359152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0" y="2386584"/>
            <a:ext cx="48463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1F2F4D"/>
                </a:solidFill>
                <a:latin typeface="Calibri"/>
              </a:rPr>
              <a:t>Prime S26 + tarif EDF OA 20 ans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2359152"/>
            <a:ext cx="1828800" cy="29260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24160" y="2386584"/>
            <a:ext cx="1828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2A9D8F"/>
                </a:solidFill>
                <a:latin typeface="Calibri"/>
              </a:rPr>
              <a:t>75-85% (capex)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651760"/>
            <a:ext cx="36576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2679192"/>
            <a:ext cx="34747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1F2F4D"/>
                </a:solidFill>
                <a:latin typeface="Calibri"/>
              </a:rPr>
              <a:t>Ombrieres PV parking (APER)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23360" y="2651760"/>
            <a:ext cx="13716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23360" y="2679192"/>
            <a:ext cx="1371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5D81A6"/>
                </a:solidFill>
                <a:latin typeface="Calibri"/>
              </a:rPr>
              <a:t>ELEC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94960" y="2651760"/>
            <a:ext cx="50292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2679192"/>
            <a:ext cx="48463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1F2F4D"/>
                </a:solidFill>
                <a:latin typeface="Calibri"/>
              </a:rPr>
              <a:t>Prime S26 + tarif rachat + Region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424160" y="2651760"/>
            <a:ext cx="1828800" cy="29260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24160" y="2679192"/>
            <a:ext cx="1828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2A9D8F"/>
                </a:solidFill>
                <a:latin typeface="Calibri"/>
              </a:rPr>
              <a:t>amorti 7-10 ans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2944368"/>
            <a:ext cx="3657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2971800"/>
            <a:ext cx="34747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1F2F4D"/>
                </a:solidFill>
                <a:latin typeface="Calibri"/>
              </a:rPr>
              <a:t>GTB classe A (BACS)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23360" y="2944368"/>
            <a:ext cx="1371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23360" y="2971800"/>
            <a:ext cx="1371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5D81A6"/>
                </a:solidFill>
                <a:latin typeface="Calibri"/>
              </a:rPr>
              <a:t>ELEC/CVC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94960" y="2944368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2971800"/>
            <a:ext cx="48463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1F2F4D"/>
                </a:solidFill>
                <a:latin typeface="Calibri"/>
              </a:rPr>
              <a:t>CEE BAT-TH-116 + Coup de pouce pilotage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4160" y="2944368"/>
            <a:ext cx="1828800" cy="29260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424160" y="2971800"/>
            <a:ext cx="1828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2A9D8F"/>
                </a:solidFill>
                <a:latin typeface="Calibri"/>
              </a:rPr>
              <a:t>50-80%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236976"/>
            <a:ext cx="36576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264408"/>
            <a:ext cx="34747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1F2F4D"/>
                </a:solidFill>
                <a:latin typeface="Calibri"/>
              </a:rPr>
              <a:t>IRVE parking entreprise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023360" y="3236976"/>
            <a:ext cx="13716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23360" y="3264408"/>
            <a:ext cx="1371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5D81A6"/>
                </a:solidFill>
                <a:latin typeface="Calibri"/>
              </a:rPr>
              <a:t>ELEC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94960" y="3236976"/>
            <a:ext cx="50292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0" y="3264408"/>
            <a:ext cx="48463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1F2F4D"/>
                </a:solidFill>
                <a:latin typeface="Calibri"/>
              </a:rPr>
              <a:t>ADVENIR jusqu'a 1700 EUR/point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424160" y="3236976"/>
            <a:ext cx="1828800" cy="29260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24160" y="3264408"/>
            <a:ext cx="1828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2A9D8F"/>
                </a:solidFill>
                <a:latin typeface="Calibri"/>
              </a:rPr>
              <a:t>30-50%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3529584"/>
            <a:ext cx="3657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3557016"/>
            <a:ext cx="34747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1F2F4D"/>
                </a:solidFill>
                <a:latin typeface="Calibri"/>
              </a:rPr>
              <a:t>IRVE collective copro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023360" y="3529584"/>
            <a:ext cx="1371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023360" y="3557016"/>
            <a:ext cx="1371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5D81A6"/>
                </a:solidFill>
                <a:latin typeface="Calibri"/>
              </a:rPr>
              <a:t>ELEC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94960" y="3529584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86400" y="3557016"/>
            <a:ext cx="48463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1F2F4D"/>
                </a:solidFill>
                <a:latin typeface="Calibri"/>
              </a:rPr>
              <a:t>ADVENIR 1660 EUR/point + 3000 EUR pre-equip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424160" y="3529584"/>
            <a:ext cx="1828800" cy="29260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24160" y="3557016"/>
            <a:ext cx="1828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2A9D8F"/>
                </a:solidFill>
                <a:latin typeface="Calibri"/>
              </a:rPr>
              <a:t>40-60%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822192"/>
            <a:ext cx="36576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3849624"/>
            <a:ext cx="34747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1F2F4D"/>
                </a:solidFill>
                <a:latin typeface="Calibri"/>
              </a:rPr>
              <a:t>Raccordement reseau chaleur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023360" y="3822192"/>
            <a:ext cx="13716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023360" y="3849624"/>
            <a:ext cx="1371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5D81A6"/>
                </a:solidFill>
                <a:latin typeface="Calibri"/>
              </a:rPr>
              <a:t>CVC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94960" y="3822192"/>
            <a:ext cx="50292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400" y="3849624"/>
            <a:ext cx="48463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1F2F4D"/>
                </a:solidFill>
                <a:latin typeface="Calibri"/>
              </a:rPr>
              <a:t>CEE BAT-TH-127 + Fonds Chaleur + MPR Copro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424160" y="3822192"/>
            <a:ext cx="1828800" cy="29260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24160" y="3849624"/>
            <a:ext cx="1828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2A9D8F"/>
                </a:solidFill>
                <a:latin typeface="Calibri"/>
              </a:rPr>
              <a:t>40-70%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114800"/>
            <a:ext cx="3657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7200" y="4142232"/>
            <a:ext cx="34747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1F2F4D"/>
                </a:solidFill>
                <a:latin typeface="Calibri"/>
              </a:rPr>
              <a:t>Bouquet renovation DEET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023360" y="4114800"/>
            <a:ext cx="1371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023360" y="4142232"/>
            <a:ext cx="1371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5D81A6"/>
                </a:solidFill>
                <a:latin typeface="Calibri"/>
              </a:rPr>
              <a:t>MULTI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394960" y="4114800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86400" y="4142232"/>
            <a:ext cx="48463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1F2F4D"/>
                </a:solidFill>
                <a:latin typeface="Calibri"/>
              </a:rPr>
              <a:t>Coup de pouce x4 + ADEME + Region + Bpifrance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424160" y="4114800"/>
            <a:ext cx="1828800" cy="29260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24160" y="4142232"/>
            <a:ext cx="1828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2A9D8F"/>
                </a:solidFill>
                <a:latin typeface="Calibri"/>
              </a:rPr>
              <a:t>40-70%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5760" y="4407408"/>
            <a:ext cx="36576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57200" y="4434840"/>
            <a:ext cx="34747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1F2F4D"/>
                </a:solidFill>
                <a:latin typeface="Calibri"/>
              </a:rPr>
              <a:t>Calorifugeage chaufferie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023360" y="4407408"/>
            <a:ext cx="13716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023360" y="4434840"/>
            <a:ext cx="1371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5D81A6"/>
                </a:solidFill>
                <a:latin typeface="Calibri"/>
              </a:rPr>
              <a:t>CVC/MAINT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394960" y="4407408"/>
            <a:ext cx="50292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486400" y="4434840"/>
            <a:ext cx="48463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1F2F4D"/>
                </a:solidFill>
                <a:latin typeface="Calibri"/>
              </a:rPr>
              <a:t>CEE BAT-TH-145 + 146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424160" y="4407408"/>
            <a:ext cx="1828800" cy="29260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424160" y="4434840"/>
            <a:ext cx="1828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2A9D8F"/>
                </a:solidFill>
                <a:latin typeface="Calibri"/>
              </a:rPr>
              <a:t>80-100%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65760" y="4700016"/>
            <a:ext cx="3657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57200" y="4727448"/>
            <a:ext cx="34747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1F2F4D"/>
                </a:solidFill>
                <a:latin typeface="Calibri"/>
              </a:rPr>
              <a:t>VMC double flux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023360" y="4700016"/>
            <a:ext cx="1371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023360" y="4727448"/>
            <a:ext cx="1371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5D81A6"/>
                </a:solidFill>
                <a:latin typeface="Calibri"/>
              </a:rPr>
              <a:t>CVC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394960" y="4700016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486400" y="4727448"/>
            <a:ext cx="48463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1F2F4D"/>
                </a:solidFill>
                <a:latin typeface="Calibri"/>
              </a:rPr>
              <a:t>CEE BAT-TH-125/155 + ACTEE + AIRPARIF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424160" y="4700016"/>
            <a:ext cx="1828800" cy="29260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424160" y="4727448"/>
            <a:ext cx="1828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2A9D8F"/>
                </a:solidFill>
                <a:latin typeface="Calibri"/>
              </a:rPr>
              <a:t>25-50%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65760" y="4992624"/>
            <a:ext cx="36576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7200" y="5020056"/>
            <a:ext cx="34747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1F2F4D"/>
                </a:solidFill>
                <a:latin typeface="Calibri"/>
              </a:rPr>
              <a:t>Variateurs moteurs industriels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023360" y="4992624"/>
            <a:ext cx="13716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023360" y="5020056"/>
            <a:ext cx="1371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5D81A6"/>
                </a:solidFill>
                <a:latin typeface="Calibri"/>
              </a:rPr>
              <a:t>ELEC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394960" y="4992624"/>
            <a:ext cx="50292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486400" y="5020056"/>
            <a:ext cx="48463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1F2F4D"/>
                </a:solidFill>
                <a:latin typeface="Calibri"/>
              </a:rPr>
              <a:t>CEE IND-UT-103 + Tremplin + Diag Eco-Flux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424160" y="4992624"/>
            <a:ext cx="1828800" cy="29260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424160" y="5020056"/>
            <a:ext cx="1828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2A9D8F"/>
                </a:solidFill>
                <a:latin typeface="Calibri"/>
              </a:rPr>
              <a:t>30-60%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5285232"/>
            <a:ext cx="3657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5312664"/>
            <a:ext cx="34747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1F2F4D"/>
                </a:solidFill>
                <a:latin typeface="Calibri"/>
              </a:rPr>
              <a:t>Recup chaleur fatale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023360" y="5285232"/>
            <a:ext cx="1371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023360" y="5312664"/>
            <a:ext cx="1371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5D81A6"/>
                </a:solidFill>
                <a:latin typeface="Calibri"/>
              </a:rPr>
              <a:t>CVC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394960" y="5285232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486400" y="5312664"/>
            <a:ext cx="48463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1F2F4D"/>
                </a:solidFill>
                <a:latin typeface="Calibri"/>
              </a:rPr>
              <a:t>CEE IND-UT-117/102 + Fonds Chaleur + France 2030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424160" y="5285232"/>
            <a:ext cx="1828800" cy="29260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424160" y="5312664"/>
            <a:ext cx="1828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2A9D8F"/>
                </a:solidFill>
                <a:latin typeface="Calibri"/>
              </a:rPr>
              <a:t>40-75%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5760" y="5577840"/>
            <a:ext cx="36576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57200" y="5605272"/>
            <a:ext cx="34747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1F2F4D"/>
                </a:solidFill>
                <a:latin typeface="Calibri"/>
              </a:rPr>
              <a:t>Chaudiere -&gt; PAC particulier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023360" y="5577840"/>
            <a:ext cx="13716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023360" y="5605272"/>
            <a:ext cx="1371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5D81A6"/>
                </a:solidFill>
                <a:latin typeface="Calibri"/>
              </a:rPr>
              <a:t>CVC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394960" y="5577840"/>
            <a:ext cx="5029200" cy="292608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486400" y="5605272"/>
            <a:ext cx="48463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1F2F4D"/>
                </a:solidFill>
                <a:latin typeface="Calibri"/>
              </a:rPr>
              <a:t>MPR + CEE Coup de pouce + Eco-PTZ + TVA 5,5%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424160" y="5577840"/>
            <a:ext cx="1828800" cy="29260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424160" y="5605272"/>
            <a:ext cx="1828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2A9D8F"/>
                </a:solidFill>
                <a:latin typeface="Calibri"/>
              </a:rPr>
              <a:t>40-90%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65760" y="5870448"/>
            <a:ext cx="3657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57200" y="5897880"/>
            <a:ext cx="34747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1F2F4D"/>
                </a:solidFill>
                <a:latin typeface="Calibri"/>
              </a:rPr>
              <a:t>Datacenter free cooling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023360" y="5870448"/>
            <a:ext cx="13716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023360" y="5897880"/>
            <a:ext cx="1371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5D81A6"/>
                </a:solidFill>
                <a:latin typeface="Calibri"/>
              </a:rPr>
              <a:t>INFO/CVC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394960" y="5870448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486400" y="5897880"/>
            <a:ext cx="484632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1F2F4D"/>
                </a:solidFill>
                <a:latin typeface="Calibri"/>
              </a:rPr>
              <a:t>CEE + Fonds Chaleur (fatale) + France 2030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0424160" y="5870448"/>
            <a:ext cx="1828800" cy="292608"/>
          </a:xfrm>
          <a:prstGeom prst="rect">
            <a:avLst/>
          </a:prstGeom>
          <a:solidFill>
            <a:srgbClr val="D9F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424160" y="5897880"/>
            <a:ext cx="1828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2A9D8F"/>
                </a:solidFill>
                <a:latin typeface="Calibri"/>
              </a:rPr>
              <a:t>25-50%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Calibri"/>
              </a:rPr>
              <a:t>Detail complet et regles de cumul : voir onglet '10 - Matrice projet x aides' du classeur Excel.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18/22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18. Bases de calcul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Formules cles a memoriser pour chiffrer en 5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3840480" cy="365760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CEE standard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3840480" cy="10515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Prime = kWh_cumac x cours_marche / 1000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Cours T2 2026 : ~7 a 10 EUR / MWh cumac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188720"/>
            <a:ext cx="3840480" cy="36576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243584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CEE bonifie (Coup de pouce)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554480"/>
            <a:ext cx="3840480" cy="10515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4592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Prime = kWh_cumac x mult (x2 a x4) x cours / 1000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Sortie fioul = x4 - Sortie gaz = x2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1188720"/>
            <a:ext cx="3840480" cy="36576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243584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Prime autoconso PV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5320" y="1554480"/>
            <a:ext cx="3840480" cy="10515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64592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Prime = EUR_par_kWc x P_kWc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Versee en 5 annuites - revision trimestrielle CRE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743200"/>
            <a:ext cx="3840480" cy="36576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798064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Tarif EDF OA surplus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108960"/>
            <a:ext cx="3840480" cy="10515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2004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Revenu/an = kWh_vendus x tarif (20 ans)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6118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Contrat fixe 20 ans signe a la mise en service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0" y="2743200"/>
            <a:ext cx="3840480" cy="36576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798064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ADVENIR IRVE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3108960"/>
            <a:ext cx="3840480" cy="10515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32004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Aide = MIN(% HT ; plafond EUR/point)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36118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Plafond varie selon parking : 960 a 15 000 EUR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5320" y="2743200"/>
            <a:ext cx="3840480" cy="365760"/>
          </a:xfrm>
          <a:prstGeom prst="rect">
            <a:avLst/>
          </a:prstGeom>
          <a:solidFill>
            <a:srgbClr val="82C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2798064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Fonds Chaleur forfait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75320" y="3108960"/>
            <a:ext cx="3840480" cy="10515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32004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Aide = MWh_EnR/an x forfait EUR/MWh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6118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Geothermie : 80 - Biomasse : 25-35 - Solaire thermique : 40-80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297680"/>
            <a:ext cx="3840480" cy="36576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352544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MaPrimeRenov Copro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663440"/>
            <a:ext cx="3840480" cy="10515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7548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Aide = % gain x cout_HT_plafonne / logement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16636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Plafond 25 000 EUR HT/log + bonus sortie passoire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80" y="4297680"/>
            <a:ext cx="3840480" cy="365760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34840" y="4352544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TVA 5,5%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97680" y="4663440"/>
            <a:ext cx="3840480" cy="10515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34840" y="47548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Economie = HT x 14,5%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34840" y="516636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Travaux residentiel &gt; 2 ans - attestation client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75320" y="4297680"/>
            <a:ext cx="3840480" cy="36576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0" y="4352544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Bpifrance PEE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75320" y="4663440"/>
            <a:ext cx="3840480" cy="105156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12480" y="47548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Pret 10 a 500 k EUR - taux fixe ~3-4%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516636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Eligible si action figure dans le perimetre CEE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" y="62179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Calibri"/>
              </a:rPr>
              <a:t>Simulateurs Excel vivants disponibles dans l'onglet '12 - Simulateurs' : entrer ses valeurs, le calcul est automatique.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19/22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19. Exemple chiffre 1 - PAC copropriete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Remplacement chaudiere fioul collective - copro 50 logements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03520" cy="502920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4A261"/>
                </a:solidFill>
                <a:latin typeface="Calibri"/>
              </a:rPr>
              <a:t>DONNEES DE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Nombre de logements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8288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Cout total chantier 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19456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380 000 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Gain energetique attendu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56032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260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Multiplicateur Coup de pouce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9260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x4 (sortie fioul)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9184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Plafond MPR Copro / logement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29184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25 000 EUR 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Taux MPR (gain &gt;= 50%)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6576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35%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1188720"/>
            <a:ext cx="5760720" cy="50292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137160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F4D"/>
                </a:solidFill>
                <a:latin typeface="Calibri"/>
              </a:rPr>
              <a:t>CALCUL DES AIDES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1828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Prime CEE standard estimee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18288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2F4D"/>
                </a:solidFill>
                <a:latin typeface="Calibri"/>
              </a:rPr>
              <a:t>35 000 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1945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Prime CEE bonifiee (x4)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219456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Calibri"/>
              </a:rPr>
              <a:t>140 000 EUR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56032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Aide MPR Copro (25 000 x 50 x 35%)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56032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Calibri"/>
              </a:rPr>
              <a:t>+ 437 500 EUR HT (plafond)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926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Sous-total aides directes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29260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D81A6"/>
                </a:solidFill>
                <a:latin typeface="Calibri"/>
              </a:rPr>
              <a:t>= 437 500 + 140 000 = 577 500 EUR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32918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[Si Energies POSIT'IF]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329184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Calibri"/>
              </a:rPr>
              <a:t>Tiers-financement du reste possible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3840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Reste a charge HT (sans POSIT'IF)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38404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Calibri"/>
              </a:rPr>
              <a:t>= 380 000 - 380 000* = 0 EUR cash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206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* aides plafonnees au cout reel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420624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A6478"/>
                </a:solidFill>
                <a:latin typeface="Calibri"/>
              </a:rPr>
              <a:t>Le surplus aide est ecrete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45720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F4D"/>
                </a:solidFill>
                <a:latin typeface="Calibri"/>
              </a:rPr>
              <a:t>Cout par logement copro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45720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Calibri"/>
              </a:rPr>
              <a:t>0 a 500 EUR / log (selon)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20/22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5D8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20. Exemple chiffre 2 - PV + 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8EEF5"/>
                </a:solidFill>
                <a:latin typeface="Calibri"/>
              </a:rPr>
              <a:t>PME logistique 1500 m2 parking - 100 kWc PV + 10 bornes 22 kW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577840" cy="24688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VOLET 1 - PV autoconsommation 100 kWc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Cout total 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691640"/>
            <a:ext cx="2560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110 000 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47672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Prime autoconso (5 ans)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947672"/>
            <a:ext cx="2560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10 000 EUR (100 EUR x 100 kWc)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03704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Production annuelle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203704"/>
            <a:ext cx="2560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110 000 kWh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59736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Revenu rachat 30% surplus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459736"/>
            <a:ext cx="2560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~ 4 280 EUR / an x 20 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715768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Economie autoconso 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715768"/>
            <a:ext cx="2560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~ 16 200 EUR / 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97180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Gain cumule 20 ans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971800"/>
            <a:ext cx="2560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~ 420 000 EUR (net)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227832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ROI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227832"/>
            <a:ext cx="2560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~ 5 a 6 ans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188720"/>
            <a:ext cx="5486400" cy="24688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2801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VOLET 2 - IRVE 10 bornes 22 kW (parking salaries)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69164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Cout total HT (10 x 3 500 EUR)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1691640"/>
            <a:ext cx="2377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35 000 EUR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947672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Plafond ADVENIR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1947672"/>
            <a:ext cx="2377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1 700 EUR HT / point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203704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Aide ADVENIR (10 x MIN(50% ; plafond))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2203704"/>
            <a:ext cx="2377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17 000 EUR 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459736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Reste a charge 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2459736"/>
            <a:ext cx="2377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18 000 EUR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715768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Taux de couverture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2715768"/>
            <a:ext cx="2377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49%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297180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Suramortissement IS (40% du HT)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2971800"/>
            <a:ext cx="2377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~ 7 200 EUR economie fiscale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227832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8EEF5"/>
                </a:solidFill>
                <a:latin typeface="Calibri"/>
              </a:rPr>
              <a:t>Reste a charge net fiscal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3227832"/>
            <a:ext cx="2377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~ 10 800 EUR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840480"/>
            <a:ext cx="11247120" cy="246888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39319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4A261"/>
                </a:solidFill>
                <a:latin typeface="Calibri"/>
              </a:rPr>
              <a:t>SYNTHESE OFFRE GROUPEE PV + IRVE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452628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EEF5"/>
                </a:solidFill>
                <a:latin typeface="Calibri"/>
              </a:rPr>
              <a:t>Investissement total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45262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145 000 EUR HT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80060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EEF5"/>
                </a:solidFill>
                <a:latin typeface="Calibri"/>
              </a:rPr>
              <a:t>Aides directes (prime PV + ADVENIR)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0" y="48006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27 000 EUR 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07492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EEF5"/>
                </a:solidFill>
                <a:latin typeface="Calibri"/>
              </a:rPr>
              <a:t>Reste a charge HT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507492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118 000 EUR HT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34924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EEF5"/>
                </a:solidFill>
                <a:latin typeface="Calibri"/>
              </a:rPr>
              <a:t>Reste a charge net (suramortissement IRVE)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534924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110 800 EUR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56235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EEF5"/>
                </a:solidFill>
                <a:latin typeface="Calibri"/>
              </a:rPr>
              <a:t>Gain cumule 20 ans PV (rachat + autoconso)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0" y="56235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Calibri"/>
              </a:rPr>
              <a:t>+ 420 000 EUR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589788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EEF5"/>
                </a:solidFill>
                <a:latin typeface="Calibri"/>
              </a:rPr>
              <a:t>Bilan net 20 ans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0880" y="58978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Calibri"/>
              </a:rPr>
              <a:t>+ 309 000 EUR pour le client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Groupe HUARD - Aides &amp; Primes Energie 2026 - Document interne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6478"/>
                </a:solidFill>
                <a:latin typeface="Calibri"/>
              </a:rPr>
              <a:t>21/22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Nos clients ne paient pas le prix fort.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4A261"/>
                </a:solidFill>
                <a:latin typeface="Calibri"/>
              </a:rPr>
              <a:t>Ils paient le delta apres aides - et HUARD le sait avant eux.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Suite de ce document 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20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EEF5"/>
                </a:solidFill>
                <a:latin typeface="Calibri"/>
              </a:rPr>
              <a:t>1. Classeur Excel detaille - 12 onglets dont plan administratif, matrice projet x aides, bases de calcul, simulateurs vivants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EEF5"/>
                </a:solidFill>
                <a:latin typeface="Calibri"/>
              </a:rPr>
              <a:t>2. Programme de formation interne 2h par equipe (commerciaux, charges d'affaires, conduite)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EEF5"/>
                </a:solidFill>
                <a:latin typeface="Calibri"/>
              </a:rPr>
              <a:t>3. Recrutement d'un Referent Aides Energie (1 ETP) - amorti des le 1er trimestre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807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EEF5"/>
                </a:solidFill>
                <a:latin typeface="Calibri"/>
              </a:rPr>
              <a:t>4. KPIs commerciaux a integrer au reporting mensuel COMEX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Calibri"/>
              </a:rPr>
              <a:t>Direction commerciale - Groupe HUARD - 16 mai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